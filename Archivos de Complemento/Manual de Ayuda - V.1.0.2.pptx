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312" r:id="rId5"/>
    <p:sldId id="262" r:id="rId6"/>
    <p:sldId id="263" r:id="rId7"/>
    <p:sldId id="268" r:id="rId8"/>
    <p:sldId id="269" r:id="rId9"/>
    <p:sldId id="272" r:id="rId10"/>
    <p:sldId id="271" r:id="rId11"/>
    <p:sldId id="273" r:id="rId12"/>
    <p:sldId id="274" r:id="rId13"/>
    <p:sldId id="276" r:id="rId14"/>
    <p:sldId id="279" r:id="rId15"/>
    <p:sldId id="280" r:id="rId16"/>
    <p:sldId id="281" r:id="rId17"/>
    <p:sldId id="282" r:id="rId18"/>
    <p:sldId id="283" r:id="rId19"/>
    <p:sldId id="284" r:id="rId20"/>
    <p:sldId id="286" r:id="rId21"/>
    <p:sldId id="287" r:id="rId22"/>
    <p:sldId id="288" r:id="rId23"/>
    <p:sldId id="289" r:id="rId24"/>
    <p:sldId id="290" r:id="rId25"/>
    <p:sldId id="277" r:id="rId26"/>
    <p:sldId id="278" r:id="rId27"/>
    <p:sldId id="291" r:id="rId28"/>
    <p:sldId id="293" r:id="rId29"/>
    <p:sldId id="292" r:id="rId30"/>
    <p:sldId id="294" r:id="rId31"/>
    <p:sldId id="295" r:id="rId32"/>
    <p:sldId id="296" r:id="rId33"/>
    <p:sldId id="297" r:id="rId34"/>
    <p:sldId id="298" r:id="rId35"/>
    <p:sldId id="299" r:id="rId36"/>
    <p:sldId id="300" r:id="rId37"/>
    <p:sldId id="301" r:id="rId38"/>
    <p:sldId id="303" r:id="rId39"/>
    <p:sldId id="304" r:id="rId40"/>
    <p:sldId id="305" r:id="rId41"/>
    <p:sldId id="307" r:id="rId42"/>
    <p:sldId id="308" r:id="rId43"/>
    <p:sldId id="309" r:id="rId44"/>
    <p:sldId id="306" r:id="rId45"/>
    <p:sldId id="310" r:id="rId46"/>
    <p:sldId id="311" r:id="rId4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4747"/>
    <a:srgbClr val="75B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E99633-963E-43B6-BFA6-B7B921441B9E}" v="1" dt="2022-02-11T15:07:06.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36" autoAdjust="0"/>
    <p:restoredTop sz="94660"/>
  </p:normalViewPr>
  <p:slideViewPr>
    <p:cSldViewPr snapToGrid="0">
      <p:cViewPr varScale="1">
        <p:scale>
          <a:sx n="86" d="100"/>
          <a:sy n="86" d="100"/>
        </p:scale>
        <p:origin x="966" y="132"/>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Daniel Vidales Herrera" userId="1b5c982e3a08e518" providerId="LiveId" clId="{7DE99633-963E-43B6-BFA6-B7B921441B9E}"/>
    <pc:docChg chg="undo custSel modSld">
      <pc:chgData name="Frank Daniel Vidales Herrera" userId="1b5c982e3a08e518" providerId="LiveId" clId="{7DE99633-963E-43B6-BFA6-B7B921441B9E}" dt="2022-02-11T15:09:34.551" v="129" actId="1038"/>
      <pc:docMkLst>
        <pc:docMk/>
      </pc:docMkLst>
      <pc:sldChg chg="addSp delSp modSp mod">
        <pc:chgData name="Frank Daniel Vidales Herrera" userId="1b5c982e3a08e518" providerId="LiveId" clId="{7DE99633-963E-43B6-BFA6-B7B921441B9E}" dt="2022-02-11T15:07:21.315" v="23" actId="1076"/>
        <pc:sldMkLst>
          <pc:docMk/>
          <pc:sldMk cId="3542141620" sldId="256"/>
        </pc:sldMkLst>
        <pc:spChg chg="mod">
          <ac:chgData name="Frank Daniel Vidales Herrera" userId="1b5c982e3a08e518" providerId="LiveId" clId="{7DE99633-963E-43B6-BFA6-B7B921441B9E}" dt="2022-02-11T15:07:07.077" v="15" actId="27636"/>
          <ac:spMkLst>
            <pc:docMk/>
            <pc:sldMk cId="3542141620" sldId="256"/>
            <ac:spMk id="2" creationId="{1219FFA3-C347-4D4A-8ACA-3274378A13A8}"/>
          </ac:spMkLst>
        </pc:spChg>
        <pc:picChg chg="add del mod">
          <ac:chgData name="Frank Daniel Vidales Herrera" userId="1b5c982e3a08e518" providerId="LiveId" clId="{7DE99633-963E-43B6-BFA6-B7B921441B9E}" dt="2022-02-11T15:06:37.828" v="10" actId="22"/>
          <ac:picMkLst>
            <pc:docMk/>
            <pc:sldMk cId="3542141620" sldId="256"/>
            <ac:picMk id="4" creationId="{34D29134-A62F-45EB-B3D9-B05CA3FFEAF9}"/>
          </ac:picMkLst>
        </pc:picChg>
        <pc:picChg chg="add del mod">
          <ac:chgData name="Frank Daniel Vidales Herrera" userId="1b5c982e3a08e518" providerId="LiveId" clId="{7DE99633-963E-43B6-BFA6-B7B921441B9E}" dt="2022-02-11T15:07:14.371" v="21" actId="1076"/>
          <ac:picMkLst>
            <pc:docMk/>
            <pc:sldMk cId="3542141620" sldId="256"/>
            <ac:picMk id="7" creationId="{186A8FB0-FAEF-4C42-BE8F-2DBE3170F4E1}"/>
          </ac:picMkLst>
        </pc:picChg>
        <pc:picChg chg="add del">
          <ac:chgData name="Frank Daniel Vidales Herrera" userId="1b5c982e3a08e518" providerId="LiveId" clId="{7DE99633-963E-43B6-BFA6-B7B921441B9E}" dt="2022-02-11T15:07:06.399" v="13" actId="478"/>
          <ac:picMkLst>
            <pc:docMk/>
            <pc:sldMk cId="3542141620" sldId="256"/>
            <ac:picMk id="8" creationId="{48045179-AC31-49FD-8CA2-8E214063798F}"/>
          </ac:picMkLst>
        </pc:picChg>
        <pc:picChg chg="add mod">
          <ac:chgData name="Frank Daniel Vidales Herrera" userId="1b5c982e3a08e518" providerId="LiveId" clId="{7DE99633-963E-43B6-BFA6-B7B921441B9E}" dt="2022-02-11T15:07:21.315" v="23" actId="1076"/>
          <ac:picMkLst>
            <pc:docMk/>
            <pc:sldMk cId="3542141620" sldId="256"/>
            <ac:picMk id="9" creationId="{3FD79D21-8032-4315-B366-73ED769228DE}"/>
          </ac:picMkLst>
        </pc:picChg>
      </pc:sldChg>
      <pc:sldChg chg="modSp mod">
        <pc:chgData name="Frank Daniel Vidales Herrera" userId="1b5c982e3a08e518" providerId="LiveId" clId="{7DE99633-963E-43B6-BFA6-B7B921441B9E}" dt="2022-02-11T15:09:34.551" v="129" actId="1038"/>
        <pc:sldMkLst>
          <pc:docMk/>
          <pc:sldMk cId="1780182705" sldId="257"/>
        </pc:sldMkLst>
        <pc:spChg chg="mod">
          <ac:chgData name="Frank Daniel Vidales Herrera" userId="1b5c982e3a08e518" providerId="LiveId" clId="{7DE99633-963E-43B6-BFA6-B7B921441B9E}" dt="2022-02-11T15:09:00.600" v="102" actId="14100"/>
          <ac:spMkLst>
            <pc:docMk/>
            <pc:sldMk cId="1780182705" sldId="257"/>
            <ac:spMk id="3" creationId="{20C8C7A9-FD25-4AF7-8E41-4351B98AEEBF}"/>
          </ac:spMkLst>
        </pc:spChg>
        <pc:spChg chg="mod">
          <ac:chgData name="Frank Daniel Vidales Herrera" userId="1b5c982e3a08e518" providerId="LiveId" clId="{7DE99633-963E-43B6-BFA6-B7B921441B9E}" dt="2022-02-11T15:09:34.551" v="129" actId="1038"/>
          <ac:spMkLst>
            <pc:docMk/>
            <pc:sldMk cId="1780182705" sldId="257"/>
            <ac:spMk id="4" creationId="{1E8920BD-772C-4BB2-A9BB-034254C6E479}"/>
          </ac:spMkLst>
        </pc:spChg>
      </pc:sldChg>
      <pc:sldChg chg="addSp delSp modSp mod">
        <pc:chgData name="Frank Daniel Vidales Herrera" userId="1b5c982e3a08e518" providerId="LiveId" clId="{7DE99633-963E-43B6-BFA6-B7B921441B9E}" dt="2022-02-11T13:24:35.679" v="4" actId="1076"/>
        <pc:sldMkLst>
          <pc:docMk/>
          <pc:sldMk cId="3275673045" sldId="262"/>
        </pc:sldMkLst>
        <pc:picChg chg="add mod">
          <ac:chgData name="Frank Daniel Vidales Herrera" userId="1b5c982e3a08e518" providerId="LiveId" clId="{7DE99633-963E-43B6-BFA6-B7B921441B9E}" dt="2022-02-11T13:24:35.679" v="4" actId="1076"/>
          <ac:picMkLst>
            <pc:docMk/>
            <pc:sldMk cId="3275673045" sldId="262"/>
            <ac:picMk id="5" creationId="{2338D2B2-FB9C-445A-9BBF-815077B9DC7A}"/>
          </ac:picMkLst>
        </pc:picChg>
        <pc:picChg chg="del">
          <ac:chgData name="Frank Daniel Vidales Herrera" userId="1b5c982e3a08e518" providerId="LiveId" clId="{7DE99633-963E-43B6-BFA6-B7B921441B9E}" dt="2022-02-11T13:24:23.714" v="0" actId="478"/>
          <ac:picMkLst>
            <pc:docMk/>
            <pc:sldMk cId="3275673045" sldId="262"/>
            <ac:picMk id="7" creationId="{F454F641-A0FD-41DF-B11F-4C84E61BF21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2338E8-B5D4-4993-B670-84598F4BEB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83A7E87-1601-49D5-A757-06FB29F919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9855C06-FE5E-413F-9FBB-C71755B4C026}"/>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FD55907B-0316-484E-83E7-E6F6B12A923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AA87792-E868-4307-A240-81559FB19DFB}"/>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11619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019815-FFAC-4382-9AE5-387D9715B1A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3F5C7A5-3BB3-49B4-86C4-C45059CD321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ADCFE0-F53C-4979-83E0-B3EF5EC0C239}"/>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05663B2B-913F-4134-9A06-EE502F743D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5E9A5DB-E13B-47C6-8E82-7EE1097E6856}"/>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248608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6FC2D-C602-462A-A0B5-C7DB683E1B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B6A9EFC-666A-44DE-A5E0-EE2B92D0DA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A18DF20-6151-4981-B6F5-D72DEEF9CD8A}"/>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4E3801C5-21EF-4786-AF17-B64B35BB428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9887381-F99A-4B58-B317-E6596CDB3EDF}"/>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21872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AA0CAF-4802-4346-8B93-3F82561B6B6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5E4E61E-F0D3-4B33-83E1-D33AA753FA8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6F10C62-BC44-49DE-BA0E-40B5B1660E3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04EA6CD-4CA4-40D4-AC88-BA212F9ECF75}"/>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6" name="Marcador de pie de página 5">
            <a:extLst>
              <a:ext uri="{FF2B5EF4-FFF2-40B4-BE49-F238E27FC236}">
                <a16:creationId xmlns:a16="http://schemas.microsoft.com/office/drawing/2014/main" id="{04025277-ECD4-4D78-8BCA-105EE4C2293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8022C8-B6DF-4D01-8CD4-CD546B9B273B}"/>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59580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A6F8C-B8BC-4583-9842-783293EC7AB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B8D8906-E8AE-4C19-895E-FF276E0F2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824D29B-67AC-4F80-8D28-BFDE93A604A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FA19995-2E93-46BE-A85B-AD2220927F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36E08F1-DA0E-4B48-BFB3-486CEC5B070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EC1BA6DE-BCB3-4F1E-901F-0BBA3EC16836}"/>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8" name="Marcador de pie de página 7">
            <a:extLst>
              <a:ext uri="{FF2B5EF4-FFF2-40B4-BE49-F238E27FC236}">
                <a16:creationId xmlns:a16="http://schemas.microsoft.com/office/drawing/2014/main" id="{36930575-F8A8-4EE9-A8E0-4156FDAEC6E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07C9232-7924-4D26-B18B-60F4A5D73278}"/>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229654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DB935-3F2D-46C7-BC92-A13EECF6040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37546555-1F71-4B17-95C8-8B8483540AA8}"/>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4" name="Marcador de pie de página 3">
            <a:extLst>
              <a:ext uri="{FF2B5EF4-FFF2-40B4-BE49-F238E27FC236}">
                <a16:creationId xmlns:a16="http://schemas.microsoft.com/office/drawing/2014/main" id="{7752108D-343C-4321-8395-2BF3ACF2882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E1C7C90-1DFE-4227-993B-3154021D6863}"/>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569218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538E67C-1380-4037-98F3-E41C240A1931}"/>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3" name="Marcador de pie de página 2">
            <a:extLst>
              <a:ext uri="{FF2B5EF4-FFF2-40B4-BE49-F238E27FC236}">
                <a16:creationId xmlns:a16="http://schemas.microsoft.com/office/drawing/2014/main" id="{DDFDAB67-DD8B-42A1-AA51-2F787738896C}"/>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A82489D-D033-4BB2-82FD-63AF420879E5}"/>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61344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E59F83-DBEC-4658-A871-8719DF33E1E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B898896-254F-4854-BA1E-BC8B894FA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F4DA3089-1E62-4738-820D-DC4C7F813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675BE3F-1757-41E1-9A18-B781814185E2}"/>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6" name="Marcador de pie de página 5">
            <a:extLst>
              <a:ext uri="{FF2B5EF4-FFF2-40B4-BE49-F238E27FC236}">
                <a16:creationId xmlns:a16="http://schemas.microsoft.com/office/drawing/2014/main" id="{5847A421-77EA-4A1D-93F9-F435FC34791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692CBBE-8B4E-49C6-A267-9534EB7FEE55}"/>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061676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D571EC-DE12-400E-BD6E-F1035DAF66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30A69350-8C9F-4D9C-A6B7-F7E49766BC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26D7231-CEB0-4779-82D5-389327F08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BBECC36-20DD-4FE4-9757-30DD84004825}"/>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6" name="Marcador de pie de página 5">
            <a:extLst>
              <a:ext uri="{FF2B5EF4-FFF2-40B4-BE49-F238E27FC236}">
                <a16:creationId xmlns:a16="http://schemas.microsoft.com/office/drawing/2014/main" id="{965D9D0A-430F-47FD-B023-ECF268D724D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EEBE5E0-E5AF-4936-BD18-3F79C5D90E48}"/>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4251564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7027E-FDCD-4D66-B310-12A581E2958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ABE73F6-811F-4447-A101-433016B2738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40CBE0F-F844-4A79-9B0E-EF6448E0D7BD}"/>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F2B16B27-90C1-47D4-8BC5-769E925112D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BA2524-2896-428F-B6F7-AA738DE890B2}"/>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65549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C5AB52-7043-4203-A1E6-0557173CF39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2064CAE-4FC0-4739-A81E-A84A9FCC3B4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F7B0525-4C3B-4775-8CB2-8D0F6025645B}"/>
              </a:ext>
            </a:extLst>
          </p:cNvPr>
          <p:cNvSpPr>
            <a:spLocks noGrp="1"/>
          </p:cNvSpPr>
          <p:nvPr>
            <p:ph type="dt" sz="half" idx="10"/>
          </p:nvPr>
        </p:nvSpPr>
        <p:spPr/>
        <p:txBody>
          <a:body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EE061B06-89E9-4330-A368-ECA774449F5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62BB7CE-BCFD-4872-B5F7-7FE173CBB291}"/>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603834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82BE9B3-BF3C-41D3-AE94-F13DAC303F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D24B0E6-63BE-4C7E-AA8B-04F0130AB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D26A6B-3C76-4810-8722-317D453B30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FDB342-24B9-4F22-9376-F6FE7952B9E1}" type="datetimeFigureOut">
              <a:rPr lang="es-CO" smtClean="0"/>
              <a:t>11/02/2022</a:t>
            </a:fld>
            <a:endParaRPr lang="es-CO"/>
          </a:p>
        </p:txBody>
      </p:sp>
      <p:sp>
        <p:nvSpPr>
          <p:cNvPr id="5" name="Marcador de pie de página 4">
            <a:extLst>
              <a:ext uri="{FF2B5EF4-FFF2-40B4-BE49-F238E27FC236}">
                <a16:creationId xmlns:a16="http://schemas.microsoft.com/office/drawing/2014/main" id="{F26B12DE-C870-42DB-A4A4-76C081A188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E2B2CB73-E9BF-48FA-A5FE-D9A973562D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E5B4BD-F424-4A5D-9C28-46A945458951}" type="slidenum">
              <a:rPr lang="es-CO" smtClean="0"/>
              <a:t>‹Nº›</a:t>
            </a:fld>
            <a:endParaRPr lang="es-CO"/>
          </a:p>
        </p:txBody>
      </p:sp>
    </p:spTree>
    <p:extLst>
      <p:ext uri="{BB962C8B-B14F-4D97-AF65-F5344CB8AC3E}">
        <p14:creationId xmlns:p14="http://schemas.microsoft.com/office/powerpoint/2010/main" val="807991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19FFA3-C347-4D4A-8ACA-3274378A13A8}"/>
              </a:ext>
            </a:extLst>
          </p:cNvPr>
          <p:cNvSpPr>
            <a:spLocks noGrp="1"/>
          </p:cNvSpPr>
          <p:nvPr>
            <p:ph type="ctrTitle"/>
          </p:nvPr>
        </p:nvSpPr>
        <p:spPr>
          <a:xfrm>
            <a:off x="6746628" y="1783959"/>
            <a:ext cx="4645250" cy="2889114"/>
          </a:xfrm>
        </p:spPr>
        <p:txBody>
          <a:bodyPr anchor="b">
            <a:normAutofit fontScale="90000"/>
          </a:bodyPr>
          <a:lstStyle/>
          <a:p>
            <a:pPr algn="l"/>
            <a:r>
              <a:rPr lang="es-CO" sz="6600" dirty="0">
                <a:solidFill>
                  <a:schemeClr val="bg1"/>
                </a:solidFill>
                <a:latin typeface="DIN Next LT Pro Heavy Condensed" panose="020B0906020203050203" pitchFamily="34" charset="0"/>
              </a:rPr>
              <a:t>Manual de Usuario</a:t>
            </a:r>
            <a:br>
              <a:rPr lang="es-CO" sz="6600" dirty="0">
                <a:solidFill>
                  <a:schemeClr val="bg1"/>
                </a:solidFill>
                <a:latin typeface="DIN Next LT Pro Heavy Condensed" panose="020B0906020203050203" pitchFamily="34" charset="0"/>
              </a:rPr>
            </a:br>
            <a:r>
              <a:rPr lang="es-CO" dirty="0">
                <a:solidFill>
                  <a:schemeClr val="bg1"/>
                </a:solidFill>
                <a:latin typeface="DIN Next LT Pro Heavy Condensed" panose="020B0906020203050203" pitchFamily="34" charset="0"/>
              </a:rPr>
              <a:t>StruCheck V.1.0</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descr="Imagen que contiene dibujo&#10;&#10;Descripción generada automáticamente">
            <a:extLst>
              <a:ext uri="{FF2B5EF4-FFF2-40B4-BE49-F238E27FC236}">
                <a16:creationId xmlns:a16="http://schemas.microsoft.com/office/drawing/2014/main" id="{71F0D7C3-5A67-4C14-89DB-8546DCF95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24933"/>
            <a:ext cx="2447925" cy="624221"/>
          </a:xfrm>
          <a:prstGeom prst="rect">
            <a:avLst/>
          </a:prstGeom>
        </p:spPr>
      </p:pic>
      <p:pic>
        <p:nvPicPr>
          <p:cNvPr id="7" name="Imagen 6" descr="Imagen que contiene reloj&#10;&#10;Descripción generada automáticamente">
            <a:extLst>
              <a:ext uri="{FF2B5EF4-FFF2-40B4-BE49-F238E27FC236}">
                <a16:creationId xmlns:a16="http://schemas.microsoft.com/office/drawing/2014/main" id="{186A8FB0-FAEF-4C42-BE8F-2DBE3170F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79" y="433259"/>
            <a:ext cx="5633205" cy="4189871"/>
          </a:xfrm>
          <a:prstGeom prst="rect">
            <a:avLst/>
          </a:prstGeom>
        </p:spPr>
      </p:pic>
      <p:pic>
        <p:nvPicPr>
          <p:cNvPr id="9" name="Imagen 8" descr="Logotipo, nombre de la empresa&#10;&#10;Descripción generada automáticamente">
            <a:extLst>
              <a:ext uri="{FF2B5EF4-FFF2-40B4-BE49-F238E27FC236}">
                <a16:creationId xmlns:a16="http://schemas.microsoft.com/office/drawing/2014/main" id="{3FD79D21-8032-4315-B366-73ED769228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636" y="4177304"/>
            <a:ext cx="2846136" cy="1196727"/>
          </a:xfrm>
          <a:prstGeom prst="rect">
            <a:avLst/>
          </a:prstGeom>
        </p:spPr>
      </p:pic>
    </p:spTree>
    <p:extLst>
      <p:ext uri="{BB962C8B-B14F-4D97-AF65-F5344CB8AC3E}">
        <p14:creationId xmlns:p14="http://schemas.microsoft.com/office/powerpoint/2010/main" val="3542141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88952"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ítulo 1">
            <a:extLst>
              <a:ext uri="{FF2B5EF4-FFF2-40B4-BE49-F238E27FC236}">
                <a16:creationId xmlns:a16="http://schemas.microsoft.com/office/drawing/2014/main" id="{B17D4F5D-D7E8-457A-8D0C-DBE29FECAF1B}"/>
              </a:ext>
            </a:extLst>
          </p:cNvPr>
          <p:cNvSpPr>
            <a:spLocks noGrp="1"/>
          </p:cNvSpPr>
          <p:nvPr>
            <p:ph type="title"/>
          </p:nvPr>
        </p:nvSpPr>
        <p:spPr>
          <a:xfrm>
            <a:off x="634276" y="4892358"/>
            <a:ext cx="3766272" cy="1325563"/>
          </a:xfrm>
        </p:spPr>
        <p:txBody>
          <a:bodyPr>
            <a:normAutofit/>
          </a:bodyPr>
          <a:lstStyle/>
          <a:p>
            <a:pPr algn="r"/>
            <a:r>
              <a:rPr lang="es-CO" sz="2400" dirty="0">
                <a:solidFill>
                  <a:schemeClr val="bg1"/>
                </a:solidFill>
                <a:latin typeface="DIN Next LT Pro" panose="020B0503020203050203" pitchFamily="34" charset="0"/>
              </a:rPr>
              <a:t>Índice</a:t>
            </a:r>
          </a:p>
        </p:txBody>
      </p:sp>
      <p:cxnSp>
        <p:nvCxnSpPr>
          <p:cNvPr id="20" name="Straight Connector 19">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5097939"/>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13" name="Marcador de contenido 12">
            <a:extLst>
              <a:ext uri="{FF2B5EF4-FFF2-40B4-BE49-F238E27FC236}">
                <a16:creationId xmlns:a16="http://schemas.microsoft.com/office/drawing/2014/main" id="{14A51756-58EE-4371-B4EE-9F52A3C8D1A2}"/>
              </a:ext>
            </a:extLst>
          </p:cNvPr>
          <p:cNvSpPr>
            <a:spLocks noGrp="1"/>
          </p:cNvSpPr>
          <p:nvPr>
            <p:ph idx="1"/>
          </p:nvPr>
        </p:nvSpPr>
        <p:spPr>
          <a:xfrm>
            <a:off x="4878784" y="4824249"/>
            <a:ext cx="6673136" cy="1461780"/>
          </a:xfrm>
        </p:spPr>
        <p:txBody>
          <a:bodyPr anchor="ctr">
            <a:normAutofit/>
          </a:bodyPr>
          <a:lstStyle/>
          <a:p>
            <a:pPr marL="0" indent="0">
              <a:buNone/>
            </a:pPr>
            <a:r>
              <a:rPr lang="es-CO" sz="1400" dirty="0">
                <a:solidFill>
                  <a:schemeClr val="bg1"/>
                </a:solidFill>
                <a:latin typeface="DIN Next LT Pro" panose="020B0503020203050203" pitchFamily="34" charset="0"/>
              </a:rPr>
              <a:t>Contenido</a:t>
            </a:r>
          </a:p>
          <a:p>
            <a:pPr>
              <a:buFont typeface="+mj-lt"/>
              <a:buAutoNum type="arabicPeriod"/>
            </a:pPr>
            <a:r>
              <a:rPr lang="es-CO" sz="1200" dirty="0">
                <a:solidFill>
                  <a:schemeClr val="bg1"/>
                </a:solidFill>
                <a:latin typeface="DIN Next LT Pro" panose="020B0503020203050203" pitchFamily="34" charset="0"/>
              </a:rPr>
              <a:t>Introducción</a:t>
            </a:r>
          </a:p>
          <a:p>
            <a:pPr>
              <a:buFont typeface="+mj-lt"/>
              <a:buAutoNum type="arabicPeriod"/>
            </a:pPr>
            <a:r>
              <a:rPr lang="es-CO" sz="1200" dirty="0">
                <a:solidFill>
                  <a:schemeClr val="bg1"/>
                </a:solidFill>
                <a:latin typeface="DIN Next LT Pro" panose="020B0503020203050203" pitchFamily="34" charset="0"/>
              </a:rPr>
              <a:t>Requisitos básicos</a:t>
            </a:r>
          </a:p>
          <a:p>
            <a:pPr>
              <a:buFont typeface="+mj-lt"/>
              <a:buAutoNum type="arabicPeriod"/>
            </a:pPr>
            <a:r>
              <a:rPr lang="es-CO" sz="1200" dirty="0">
                <a:solidFill>
                  <a:schemeClr val="bg1"/>
                </a:solidFill>
                <a:latin typeface="DIN Next LT Pro" panose="020B0503020203050203" pitchFamily="34" charset="0"/>
              </a:rPr>
              <a:t>Funcionamiento</a:t>
            </a:r>
          </a:p>
          <a:p>
            <a:pPr>
              <a:buFont typeface="+mj-lt"/>
              <a:buAutoNum type="arabicPeriod"/>
            </a:pPr>
            <a:r>
              <a:rPr lang="es-CO" sz="1200" dirty="0">
                <a:solidFill>
                  <a:schemeClr val="bg1"/>
                </a:solidFill>
                <a:latin typeface="DIN Next LT Pro" panose="020B0503020203050203" pitchFamily="34" charset="0"/>
              </a:rPr>
              <a:t>Resultados</a:t>
            </a:r>
          </a:p>
        </p:txBody>
      </p:sp>
      <p:grpSp>
        <p:nvGrpSpPr>
          <p:cNvPr id="5" name="Grupo 4">
            <a:extLst>
              <a:ext uri="{FF2B5EF4-FFF2-40B4-BE49-F238E27FC236}">
                <a16:creationId xmlns:a16="http://schemas.microsoft.com/office/drawing/2014/main" id="{33A78321-6BB4-45BC-9AA7-0F41E8537892}"/>
              </a:ext>
            </a:extLst>
          </p:cNvPr>
          <p:cNvGrpSpPr/>
          <p:nvPr/>
        </p:nvGrpSpPr>
        <p:grpSpPr>
          <a:xfrm>
            <a:off x="1282612" y="584899"/>
            <a:ext cx="8732198" cy="3208855"/>
            <a:chOff x="1282612" y="487241"/>
            <a:chExt cx="8732198" cy="3208855"/>
          </a:xfrm>
        </p:grpSpPr>
        <p:sp>
          <p:nvSpPr>
            <p:cNvPr id="3" name="CuadroTexto 2">
              <a:extLst>
                <a:ext uri="{FF2B5EF4-FFF2-40B4-BE49-F238E27FC236}">
                  <a16:creationId xmlns:a16="http://schemas.microsoft.com/office/drawing/2014/main" id="{20C8C7A9-FD25-4AF7-8E41-4351B98AEEBF}"/>
                </a:ext>
              </a:extLst>
            </p:cNvPr>
            <p:cNvSpPr txBox="1"/>
            <p:nvPr/>
          </p:nvSpPr>
          <p:spPr>
            <a:xfrm>
              <a:off x="1282612" y="487241"/>
              <a:ext cx="8732198" cy="3154710"/>
            </a:xfrm>
            <a:prstGeom prst="rect">
              <a:avLst/>
            </a:prstGeom>
            <a:noFill/>
          </p:spPr>
          <p:txBody>
            <a:bodyPr wrap="square" rtlCol="0">
              <a:spAutoFit/>
            </a:bodyPr>
            <a:lstStyle/>
            <a:p>
              <a:pPr algn="ctr"/>
              <a:r>
                <a:rPr lang="es-CO" sz="19900" b="1" kern="3300" spc="70" dirty="0">
                  <a:solidFill>
                    <a:srgbClr val="474747"/>
                  </a:solidFill>
                  <a:latin typeface="DIN Next LT Pro" panose="020B0503020203050203"/>
                </a:rPr>
                <a:t>ARCO</a:t>
              </a:r>
            </a:p>
          </p:txBody>
        </p:sp>
        <p:sp>
          <p:nvSpPr>
            <p:cNvPr id="4" name="CuadroTexto 3">
              <a:extLst>
                <a:ext uri="{FF2B5EF4-FFF2-40B4-BE49-F238E27FC236}">
                  <a16:creationId xmlns:a16="http://schemas.microsoft.com/office/drawing/2014/main" id="{1E8920BD-772C-4BB2-A9BB-034254C6E479}"/>
                </a:ext>
              </a:extLst>
            </p:cNvPr>
            <p:cNvSpPr txBox="1"/>
            <p:nvPr/>
          </p:nvSpPr>
          <p:spPr>
            <a:xfrm>
              <a:off x="1518396" y="2895877"/>
              <a:ext cx="8172013" cy="800219"/>
            </a:xfrm>
            <a:prstGeom prst="rect">
              <a:avLst/>
            </a:prstGeom>
            <a:noFill/>
          </p:spPr>
          <p:txBody>
            <a:bodyPr wrap="square" rtlCol="0">
              <a:spAutoFit/>
            </a:bodyPr>
            <a:lstStyle/>
            <a:p>
              <a:pPr algn="ctr"/>
              <a:r>
                <a:rPr lang="es-CO" sz="2800" spc="-100" dirty="0">
                  <a:solidFill>
                    <a:srgbClr val="474747"/>
                  </a:solidFill>
                  <a:latin typeface="DIN Next LT Pro" panose="020B0503020203050203" pitchFamily="34" charset="0"/>
                </a:rPr>
                <a:t>Análisis y Revisión de Estructuras de Concreto</a:t>
              </a:r>
              <a:endParaRPr lang="es-CO" sz="800" spc="-100" dirty="0">
                <a:solidFill>
                  <a:srgbClr val="474747"/>
                </a:solidFill>
                <a:latin typeface="DIN Next LT Pro" panose="020B0503020203050203" pitchFamily="34" charset="0"/>
              </a:endParaRPr>
            </a:p>
            <a:p>
              <a:endParaRPr lang="es-CO" dirty="0"/>
            </a:p>
          </p:txBody>
        </p:sp>
      </p:grpSp>
    </p:spTree>
    <p:extLst>
      <p:ext uri="{BB962C8B-B14F-4D97-AF65-F5344CB8AC3E}">
        <p14:creationId xmlns:p14="http://schemas.microsoft.com/office/powerpoint/2010/main" val="1780182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Introducción</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Acerca del programa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9" name="Marcador de contenido 2">
            <a:extLst>
              <a:ext uri="{FF2B5EF4-FFF2-40B4-BE49-F238E27FC236}">
                <a16:creationId xmlns:a16="http://schemas.microsoft.com/office/drawing/2014/main" id="{AA5115ED-2782-4BA1-94E6-A9106767351E}"/>
              </a:ext>
            </a:extLst>
          </p:cNvPr>
          <p:cNvSpPr txBox="1">
            <a:spLocks/>
          </p:cNvSpPr>
          <p:nvPr/>
        </p:nvSpPr>
        <p:spPr>
          <a:xfrm>
            <a:off x="5257816" y="3488534"/>
            <a:ext cx="6257904" cy="2575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tabLst>
                <a:tab pos="0" algn="l"/>
              </a:tabLst>
            </a:pPr>
            <a:r>
              <a:rPr lang="es-CO" sz="2200" dirty="0">
                <a:latin typeface="DIN Next LT Pro" panose="020B0503020203050203" pitchFamily="34" charset="0"/>
              </a:rPr>
              <a:t>STRUCHECK Columnas 2019 V.1.0 es un programa desarrollado por la empresa EstrucMed, ingeniería especializada, con el fin de resolver de manera simplificada el diseño o revisión de un elemento estructural.</a:t>
            </a:r>
            <a:endParaRPr lang="es-CO" sz="2200" dirty="0"/>
          </a:p>
        </p:txBody>
      </p:sp>
      <p:grpSp>
        <p:nvGrpSpPr>
          <p:cNvPr id="11" name="Grupo 10">
            <a:extLst>
              <a:ext uri="{FF2B5EF4-FFF2-40B4-BE49-F238E27FC236}">
                <a16:creationId xmlns:a16="http://schemas.microsoft.com/office/drawing/2014/main" id="{20A021E9-6B36-4D1A-BF94-C17A45256A31}"/>
              </a:ext>
            </a:extLst>
          </p:cNvPr>
          <p:cNvGrpSpPr/>
          <p:nvPr/>
        </p:nvGrpSpPr>
        <p:grpSpPr>
          <a:xfrm>
            <a:off x="1060757" y="2948763"/>
            <a:ext cx="3366480" cy="2878479"/>
            <a:chOff x="1114023" y="2811104"/>
            <a:chExt cx="3366480" cy="2878479"/>
          </a:xfrm>
        </p:grpSpPr>
        <p:pic>
          <p:nvPicPr>
            <p:cNvPr id="13" name="Imagen 12" descr="Imagen que contiene reloj&#10;&#10;Descripción generada automáticamente">
              <a:extLst>
                <a:ext uri="{FF2B5EF4-FFF2-40B4-BE49-F238E27FC236}">
                  <a16:creationId xmlns:a16="http://schemas.microsoft.com/office/drawing/2014/main" id="{381A7D88-44FF-476C-8CFA-F24CAD74F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023" y="2811104"/>
              <a:ext cx="3366480" cy="2508027"/>
            </a:xfrm>
            <a:prstGeom prst="rect">
              <a:avLst/>
            </a:prstGeom>
          </p:spPr>
        </p:pic>
        <p:pic>
          <p:nvPicPr>
            <p:cNvPr id="15" name="Imagen 14" descr="Imagen que contiene dibujo, plato&#10;&#10;Descripción generada automáticamente">
              <a:extLst>
                <a:ext uri="{FF2B5EF4-FFF2-40B4-BE49-F238E27FC236}">
                  <a16:creationId xmlns:a16="http://schemas.microsoft.com/office/drawing/2014/main" id="{255CBD25-6133-420F-844F-0968CEF5E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325" y="5120162"/>
              <a:ext cx="1930242" cy="569421"/>
            </a:xfrm>
            <a:prstGeom prst="rect">
              <a:avLst/>
            </a:prstGeom>
          </p:spPr>
        </p:pic>
      </p:grpSp>
      <p:grpSp>
        <p:nvGrpSpPr>
          <p:cNvPr id="17" name="Grupo 16">
            <a:extLst>
              <a:ext uri="{FF2B5EF4-FFF2-40B4-BE49-F238E27FC236}">
                <a16:creationId xmlns:a16="http://schemas.microsoft.com/office/drawing/2014/main" id="{93375B0A-AEA7-487F-9542-51CCEC7E1503}"/>
              </a:ext>
            </a:extLst>
          </p:cNvPr>
          <p:cNvGrpSpPr/>
          <p:nvPr/>
        </p:nvGrpSpPr>
        <p:grpSpPr>
          <a:xfrm>
            <a:off x="4695825" y="2901971"/>
            <a:ext cx="100330" cy="3165475"/>
            <a:chOff x="4695825" y="2901971"/>
            <a:chExt cx="100330" cy="3165475"/>
          </a:xfrm>
        </p:grpSpPr>
        <p:cxnSp>
          <p:nvCxnSpPr>
            <p:cNvPr id="10" name="Conector recto 9">
              <a:extLst>
                <a:ext uri="{FF2B5EF4-FFF2-40B4-BE49-F238E27FC236}">
                  <a16:creationId xmlns:a16="http://schemas.microsoft.com/office/drawing/2014/main" id="{C3C868E0-6209-45D4-BF7E-1DB5109A5B42}"/>
                </a:ext>
              </a:extLst>
            </p:cNvPr>
            <p:cNvCxnSpPr/>
            <p:nvPr/>
          </p:nvCxnSpPr>
          <p:spPr>
            <a:xfrm>
              <a:off x="4695825" y="2905146"/>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DB42FBC1-D5F1-426F-ADE6-BE5F8483FC9D}"/>
                </a:ext>
              </a:extLst>
            </p:cNvPr>
            <p:cNvCxnSpPr/>
            <p:nvPr/>
          </p:nvCxnSpPr>
          <p:spPr>
            <a:xfrm>
              <a:off x="4796155" y="2901971"/>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08695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Requisitos básicos</a:t>
            </a:r>
            <a:r>
              <a:rPr lang="en-US" sz="5400" kern="1200" dirty="0">
                <a:solidFill>
                  <a:srgbClr val="FFFFFF"/>
                </a:solidFill>
                <a:latin typeface="+mj-lt"/>
                <a:ea typeface="+mj-ea"/>
                <a:cs typeface="+mj-cs"/>
              </a:rPr>
              <a:t>	</a:t>
            </a: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Acerca del programa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9" name="Marcador de contenido 2">
            <a:extLst>
              <a:ext uri="{FF2B5EF4-FFF2-40B4-BE49-F238E27FC236}">
                <a16:creationId xmlns:a16="http://schemas.microsoft.com/office/drawing/2014/main" id="{AA5115ED-2782-4BA1-94E6-A9106767351E}"/>
              </a:ext>
            </a:extLst>
          </p:cNvPr>
          <p:cNvSpPr txBox="1">
            <a:spLocks/>
          </p:cNvSpPr>
          <p:nvPr/>
        </p:nvSpPr>
        <p:spPr>
          <a:xfrm>
            <a:off x="5151538" y="3091638"/>
            <a:ext cx="6354661" cy="3366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tabLst>
                <a:tab pos="0" algn="l"/>
              </a:tabLst>
            </a:pPr>
            <a:r>
              <a:rPr lang="es-CO" sz="2200" dirty="0">
                <a:latin typeface="DIN Next LT Pro" panose="020B0503020203050203" pitchFamily="34" charset="0"/>
              </a:rPr>
              <a:t>STRUCHECK Columnas 2019 V.1.0 se fundamenta en el cumplimiento de requisitos normativos especificados en el Reglamento Colombiano de Construcción Sismo Resistente NSR-10, principalmente al titulo C. Al igual que al cumplimiento de diferentes aspectos en dicho elemento, como lo son: capacidad a flexo-compresión de la sección y resistencia a la cortante.</a:t>
            </a:r>
            <a:endParaRPr lang="es-CO" sz="2200" dirty="0"/>
          </a:p>
        </p:txBody>
      </p:sp>
      <p:grpSp>
        <p:nvGrpSpPr>
          <p:cNvPr id="11" name="Grupo 10">
            <a:extLst>
              <a:ext uri="{FF2B5EF4-FFF2-40B4-BE49-F238E27FC236}">
                <a16:creationId xmlns:a16="http://schemas.microsoft.com/office/drawing/2014/main" id="{20A021E9-6B36-4D1A-BF94-C17A45256A31}"/>
              </a:ext>
            </a:extLst>
          </p:cNvPr>
          <p:cNvGrpSpPr/>
          <p:nvPr/>
        </p:nvGrpSpPr>
        <p:grpSpPr>
          <a:xfrm>
            <a:off x="1060757" y="2948763"/>
            <a:ext cx="3366480" cy="2878479"/>
            <a:chOff x="1114023" y="2811104"/>
            <a:chExt cx="3366480" cy="2878479"/>
          </a:xfrm>
        </p:grpSpPr>
        <p:pic>
          <p:nvPicPr>
            <p:cNvPr id="13" name="Imagen 12" descr="Imagen que contiene reloj&#10;&#10;Descripción generada automáticamente">
              <a:extLst>
                <a:ext uri="{FF2B5EF4-FFF2-40B4-BE49-F238E27FC236}">
                  <a16:creationId xmlns:a16="http://schemas.microsoft.com/office/drawing/2014/main" id="{381A7D88-44FF-476C-8CFA-F24CAD74F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023" y="2811104"/>
              <a:ext cx="3366480" cy="2508027"/>
            </a:xfrm>
            <a:prstGeom prst="rect">
              <a:avLst/>
            </a:prstGeom>
          </p:spPr>
        </p:pic>
        <p:pic>
          <p:nvPicPr>
            <p:cNvPr id="15" name="Imagen 14" descr="Imagen que contiene dibujo, plato&#10;&#10;Descripción generada automáticamente">
              <a:extLst>
                <a:ext uri="{FF2B5EF4-FFF2-40B4-BE49-F238E27FC236}">
                  <a16:creationId xmlns:a16="http://schemas.microsoft.com/office/drawing/2014/main" id="{255CBD25-6133-420F-844F-0968CEF5E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325" y="5120162"/>
              <a:ext cx="1930242" cy="569421"/>
            </a:xfrm>
            <a:prstGeom prst="rect">
              <a:avLst/>
            </a:prstGeom>
          </p:spPr>
        </p:pic>
      </p:grpSp>
      <p:grpSp>
        <p:nvGrpSpPr>
          <p:cNvPr id="10" name="Grupo 9">
            <a:extLst>
              <a:ext uri="{FF2B5EF4-FFF2-40B4-BE49-F238E27FC236}">
                <a16:creationId xmlns:a16="http://schemas.microsoft.com/office/drawing/2014/main" id="{4526B22A-8A0B-4826-8F92-C4729389BFC7}"/>
              </a:ext>
            </a:extLst>
          </p:cNvPr>
          <p:cNvGrpSpPr/>
          <p:nvPr/>
        </p:nvGrpSpPr>
        <p:grpSpPr>
          <a:xfrm>
            <a:off x="4695825" y="2901971"/>
            <a:ext cx="100330" cy="3165475"/>
            <a:chOff x="4695825" y="2901971"/>
            <a:chExt cx="100330" cy="3165475"/>
          </a:xfrm>
        </p:grpSpPr>
        <p:cxnSp>
          <p:nvCxnSpPr>
            <p:cNvPr id="16" name="Conector recto 15">
              <a:extLst>
                <a:ext uri="{FF2B5EF4-FFF2-40B4-BE49-F238E27FC236}">
                  <a16:creationId xmlns:a16="http://schemas.microsoft.com/office/drawing/2014/main" id="{FADC2C89-3232-4238-8F9C-FF476E24F42A}"/>
                </a:ext>
              </a:extLst>
            </p:cNvPr>
            <p:cNvCxnSpPr/>
            <p:nvPr/>
          </p:nvCxnSpPr>
          <p:spPr>
            <a:xfrm>
              <a:off x="4695825" y="2905146"/>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1A3E8614-5F84-4F38-A92A-736A8433E240}"/>
                </a:ext>
              </a:extLst>
            </p:cNvPr>
            <p:cNvCxnSpPr/>
            <p:nvPr/>
          </p:nvCxnSpPr>
          <p:spPr>
            <a:xfrm>
              <a:off x="4796155" y="2901971"/>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6246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Pagina</a:t>
            </a:r>
            <a:r>
              <a:rPr lang="en-US" sz="2000" kern="1200" dirty="0">
                <a:solidFill>
                  <a:srgbClr val="28F524"/>
                </a:solidFill>
                <a:latin typeface="DIN Next LT Pro" panose="020B0503020203050203" pitchFamily="34" charset="0"/>
              </a:rPr>
              <a:t> principal del programa</a:t>
            </a: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2338D2B2-FB9C-445A-9BBF-815077B9DC7A}"/>
              </a:ext>
            </a:extLst>
          </p:cNvPr>
          <p:cNvPicPr>
            <a:picLocks noChangeAspect="1"/>
          </p:cNvPicPr>
          <p:nvPr/>
        </p:nvPicPr>
        <p:blipFill>
          <a:blip r:embed="rId2"/>
          <a:stretch>
            <a:fillRect/>
          </a:stretch>
        </p:blipFill>
        <p:spPr>
          <a:xfrm>
            <a:off x="2670865" y="2450967"/>
            <a:ext cx="6850269" cy="4063547"/>
          </a:xfrm>
          <a:prstGeom prst="rect">
            <a:avLst/>
          </a:prstGeom>
        </p:spPr>
      </p:pic>
    </p:spTree>
    <p:extLst>
      <p:ext uri="{BB962C8B-B14F-4D97-AF65-F5344CB8AC3E}">
        <p14:creationId xmlns:p14="http://schemas.microsoft.com/office/powerpoint/2010/main" val="327567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Definir – </a:t>
            </a:r>
            <a:r>
              <a:rPr lang="es-CO" sz="2000" dirty="0">
                <a:solidFill>
                  <a:srgbClr val="23F72A"/>
                </a:solidFill>
                <a:latin typeface="DIN Next LT Pro" panose="020B0503020203050203" pitchFamily="34" charset="0"/>
              </a:rPr>
              <a:t>Información</a:t>
            </a:r>
            <a:r>
              <a:rPr lang="en-US" sz="2000" dirty="0">
                <a:solidFill>
                  <a:srgbClr val="23F72A"/>
                </a:solidFill>
                <a:latin typeface="DIN Next LT Pro" panose="020B0503020203050203" pitchFamily="34" charset="0"/>
              </a:rPr>
              <a:t> General</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CB9388E1-2839-469E-A171-7A4BB9D9E1FF}"/>
              </a:ext>
            </a:extLst>
          </p:cNvPr>
          <p:cNvPicPr>
            <a:picLocks noChangeAspect="1"/>
          </p:cNvPicPr>
          <p:nvPr/>
        </p:nvPicPr>
        <p:blipFill>
          <a:blip r:embed="rId2"/>
          <a:stretch>
            <a:fillRect/>
          </a:stretch>
        </p:blipFill>
        <p:spPr>
          <a:xfrm>
            <a:off x="396882" y="2501278"/>
            <a:ext cx="4298935" cy="2471887"/>
          </a:xfrm>
          <a:prstGeom prst="rect">
            <a:avLst/>
          </a:prstGeom>
        </p:spPr>
      </p:pic>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Inicialmente debe ingresarse cierta información importante para el funcionamiento del programa, en la opción número dos encontramos Definir – Información General, al hacer clic en esta opción se abrirá la siguiente ventana emergente.</a:t>
            </a:r>
          </a:p>
        </p:txBody>
      </p:sp>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1676400" y="2406361"/>
            <a:ext cx="4876800" cy="401457"/>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F053F98F-EB5A-40E6-8658-3C563E307C6E}"/>
              </a:ext>
            </a:extLst>
          </p:cNvPr>
          <p:cNvSpPr txBox="1"/>
          <p:nvPr/>
        </p:nvSpPr>
        <p:spPr>
          <a:xfrm>
            <a:off x="10002478" y="2510416"/>
            <a:ext cx="2029163" cy="3801041"/>
          </a:xfrm>
          <a:prstGeom prst="rect">
            <a:avLst/>
          </a:prstGeom>
          <a:noFill/>
        </p:spPr>
        <p:txBody>
          <a:bodyPr wrap="square" rtlCol="0">
            <a:spAutoFit/>
          </a:bodyPr>
          <a:lstStyle/>
          <a:p>
            <a:pPr marL="177800" indent="-177800">
              <a:spcAft>
                <a:spcPts val="600"/>
              </a:spcAft>
              <a:buFont typeface="Wingdings" panose="05000000000000000000" pitchFamily="2" charset="2"/>
              <a:buChar char="Ø"/>
            </a:pPr>
            <a:r>
              <a:rPr lang="es-CO" sz="1400" dirty="0">
                <a:latin typeface="DIN Next LT Pro" panose="020B0503020203050203" pitchFamily="34" charset="0"/>
              </a:rPr>
              <a:t>Código del proyecto en curso.</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Nombre del elemento que se analizará.</a:t>
            </a:r>
          </a:p>
          <a:p>
            <a:pPr marL="177800" indent="-177800">
              <a:spcAft>
                <a:spcPts val="1800"/>
              </a:spcAft>
              <a:buFont typeface="Wingdings" panose="05000000000000000000" pitchFamily="2" charset="2"/>
              <a:buChar char="Ø"/>
            </a:pPr>
            <a:r>
              <a:rPr lang="es-CO" sz="1400" dirty="0">
                <a:latin typeface="DIN Next LT Pro" panose="020B0503020203050203" pitchFamily="34" charset="0"/>
              </a:rPr>
              <a:t>Usuario que está realizando el análisis.</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Analiza solo un elemento.</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Analiza diferentes secciones con las mismas propiedades.</a:t>
            </a:r>
          </a:p>
          <a:p>
            <a:pPr>
              <a:spcAft>
                <a:spcPts val="600"/>
              </a:spcAft>
            </a:pPr>
            <a:endParaRPr lang="es-CO" sz="1400" dirty="0">
              <a:latin typeface="DIN Next LT Pro" panose="020B0503020203050203" pitchFamily="34" charset="0"/>
            </a:endParaRPr>
          </a:p>
          <a:p>
            <a:pPr>
              <a:spcAft>
                <a:spcPts val="600"/>
              </a:spcAft>
            </a:pPr>
            <a:endParaRPr lang="es-CO" sz="1400" dirty="0">
              <a:latin typeface="DIN Next LT Pro" panose="020B0503020203050203" pitchFamily="34" charset="0"/>
            </a:endParaRPr>
          </a:p>
          <a:p>
            <a:endParaRPr lang="es-CO" sz="1400" dirty="0">
              <a:latin typeface="DIN Next LT Pro" panose="020B0503020203050203" pitchFamily="34" charset="0"/>
            </a:endParaRPr>
          </a:p>
        </p:txBody>
      </p:sp>
      <p:pic>
        <p:nvPicPr>
          <p:cNvPr id="23" name="Imagen 22">
            <a:extLst>
              <a:ext uri="{FF2B5EF4-FFF2-40B4-BE49-F238E27FC236}">
                <a16:creationId xmlns:a16="http://schemas.microsoft.com/office/drawing/2014/main" id="{599F8AB4-7FA5-47C3-B64D-398ADC1F360D}"/>
              </a:ext>
            </a:extLst>
          </p:cNvPr>
          <p:cNvPicPr>
            <a:picLocks noChangeAspect="1"/>
          </p:cNvPicPr>
          <p:nvPr/>
        </p:nvPicPr>
        <p:blipFill>
          <a:blip r:embed="rId3"/>
          <a:stretch>
            <a:fillRect/>
          </a:stretch>
        </p:blipFill>
        <p:spPr>
          <a:xfrm>
            <a:off x="6553200" y="2277801"/>
            <a:ext cx="3382513" cy="4065849"/>
          </a:xfrm>
          <a:prstGeom prst="rect">
            <a:avLst/>
          </a:prstGeom>
        </p:spPr>
      </p:pic>
    </p:spTree>
    <p:extLst>
      <p:ext uri="{BB962C8B-B14F-4D97-AF65-F5344CB8AC3E}">
        <p14:creationId xmlns:p14="http://schemas.microsoft.com/office/powerpoint/2010/main" val="34843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Definir – </a:t>
            </a:r>
            <a:r>
              <a:rPr lang="es-CO" sz="2000" dirty="0">
                <a:solidFill>
                  <a:srgbClr val="23F72A"/>
                </a:solidFill>
                <a:latin typeface="DIN Next LT Pro" panose="020B0503020203050203" pitchFamily="34" charset="0"/>
              </a:rPr>
              <a:t>Materiales</a:t>
            </a:r>
            <a:endParaRPr lang="en-US" sz="2000" dirty="0">
              <a:solidFill>
                <a:srgbClr val="23F72A"/>
              </a:solidFill>
              <a:latin typeface="DIN Next LT Pro" panose="020B0503020203050203" pitchFamily="34" charset="0"/>
            </a:endParaRP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815882"/>
          </a:xfrm>
          <a:prstGeom prst="rect">
            <a:avLst/>
          </a:prstGeom>
          <a:noFill/>
        </p:spPr>
        <p:txBody>
          <a:bodyPr wrap="square" rtlCol="0">
            <a:spAutoFit/>
          </a:bodyPr>
          <a:lstStyle/>
          <a:p>
            <a:pPr algn="just"/>
            <a:r>
              <a:rPr lang="es-CO" sz="1600" dirty="0">
                <a:latin typeface="DIN Next LT Pro" panose="020B0503020203050203" pitchFamily="34" charset="0"/>
              </a:rPr>
              <a:t>En la opción número dos encontramos Definir – Materiales, al hacer clic en esta opción se abrirá la siguiente ventana emergente. En ella debe ingresarse toda información solicitada en cada celda, estas corresponden a las diferentes propiedades de los materiales requeridos en el análisis.</a:t>
            </a:r>
          </a:p>
          <a:p>
            <a:pPr algn="just"/>
            <a:endParaRPr lang="es-CO" sz="1600" dirty="0">
              <a:latin typeface="DIN Next LT Pro" panose="020B0503020203050203" pitchFamily="34" charset="0"/>
            </a:endParaRPr>
          </a:p>
        </p:txBody>
      </p:sp>
      <p:pic>
        <p:nvPicPr>
          <p:cNvPr id="13" name="Imagen 12">
            <a:extLst>
              <a:ext uri="{FF2B5EF4-FFF2-40B4-BE49-F238E27FC236}">
                <a16:creationId xmlns:a16="http://schemas.microsoft.com/office/drawing/2014/main" id="{50BAD38D-A395-4605-A17F-55188F9E2B71}"/>
              </a:ext>
            </a:extLst>
          </p:cNvPr>
          <p:cNvPicPr>
            <a:picLocks noChangeAspect="1"/>
          </p:cNvPicPr>
          <p:nvPr/>
        </p:nvPicPr>
        <p:blipFill>
          <a:blip r:embed="rId2"/>
          <a:stretch>
            <a:fillRect/>
          </a:stretch>
        </p:blipFill>
        <p:spPr>
          <a:xfrm>
            <a:off x="396882" y="2473405"/>
            <a:ext cx="4279621" cy="2445498"/>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1689463" y="2406362"/>
            <a:ext cx="4863737" cy="502301"/>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0175B127-934F-478F-888F-19824A50C12B}"/>
              </a:ext>
            </a:extLst>
          </p:cNvPr>
          <p:cNvPicPr>
            <a:picLocks noChangeAspect="1"/>
          </p:cNvPicPr>
          <p:nvPr/>
        </p:nvPicPr>
        <p:blipFill>
          <a:blip r:embed="rId3"/>
          <a:stretch>
            <a:fillRect/>
          </a:stretch>
        </p:blipFill>
        <p:spPr>
          <a:xfrm>
            <a:off x="6665150" y="2313278"/>
            <a:ext cx="2548518" cy="4189444"/>
          </a:xfrm>
          <a:prstGeom prst="rect">
            <a:avLst/>
          </a:prstGeom>
        </p:spPr>
      </p:pic>
      <p:sp>
        <p:nvSpPr>
          <p:cNvPr id="17" name="CuadroTexto 16">
            <a:extLst>
              <a:ext uri="{FF2B5EF4-FFF2-40B4-BE49-F238E27FC236}">
                <a16:creationId xmlns:a16="http://schemas.microsoft.com/office/drawing/2014/main" id="{A5554D7F-4261-4273-8BAF-666F94A90EF0}"/>
              </a:ext>
            </a:extLst>
          </p:cNvPr>
          <p:cNvSpPr txBox="1"/>
          <p:nvPr/>
        </p:nvSpPr>
        <p:spPr>
          <a:xfrm>
            <a:off x="9384178" y="2657512"/>
            <a:ext cx="2451497" cy="3954929"/>
          </a:xfrm>
          <a:prstGeom prst="rect">
            <a:avLst/>
          </a:prstGeom>
          <a:noFill/>
        </p:spPr>
        <p:txBody>
          <a:bodyPr wrap="square" rtlCol="0">
            <a:spAutoFit/>
          </a:bodyPr>
          <a:lstStyle/>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F’c: </a:t>
            </a:r>
            <a:r>
              <a:rPr lang="es-CO" sz="1200" dirty="0">
                <a:latin typeface="DIN Next LT Pro" panose="020B0503020203050203" pitchFamily="34" charset="0"/>
              </a:rPr>
              <a:t>Resistencia a la compresión del concreto en MPa.</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Ec: </a:t>
            </a:r>
            <a:r>
              <a:rPr lang="es-CO" sz="1200" dirty="0">
                <a:latin typeface="DIN Next LT Pro" panose="020B0503020203050203" pitchFamily="34" charset="0"/>
              </a:rPr>
              <a:t>Módulo de elasticidad del concreto en MPa.</a:t>
            </a:r>
          </a:p>
          <a:p>
            <a:pPr marL="182563" indent="-182563" algn="just">
              <a:spcAft>
                <a:spcPts val="600"/>
              </a:spcAft>
              <a:buFont typeface="Wingdings" panose="05000000000000000000" pitchFamily="2" charset="2"/>
              <a:buChar char="Ø"/>
            </a:pPr>
            <a:r>
              <a:rPr lang="es-CO" sz="1400" b="1" dirty="0">
                <a:latin typeface="Symbol" panose="05050102010706020507" pitchFamily="18" charset="2"/>
              </a:rPr>
              <a:t>e</a:t>
            </a:r>
            <a:r>
              <a:rPr lang="es-CO" sz="1400" dirty="0">
                <a:latin typeface="DIN Next LT Pro" panose="020B0503020203050203" pitchFamily="34" charset="0"/>
              </a:rPr>
              <a:t>cu: </a:t>
            </a:r>
            <a:r>
              <a:rPr lang="es-CO" sz="1200" dirty="0">
                <a:latin typeface="DIN Next LT Pro" panose="020B0503020203050203" pitchFamily="34" charset="0"/>
              </a:rPr>
              <a:t>Deformación unitaria máxima del concreto.</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Beta (</a:t>
            </a:r>
            <a:r>
              <a:rPr lang="es-CO" sz="1400" b="1" dirty="0">
                <a:latin typeface="Symbol" panose="05050102010706020507" pitchFamily="18" charset="2"/>
              </a:rPr>
              <a:t>b</a:t>
            </a:r>
            <a:r>
              <a:rPr lang="es-CO" sz="1400" dirty="0">
                <a:latin typeface="DIN Next LT Pro" panose="020B0503020203050203" pitchFamily="34" charset="0"/>
              </a:rPr>
              <a:t>): </a:t>
            </a:r>
            <a:r>
              <a:rPr lang="es-CO" sz="1200" dirty="0">
                <a:latin typeface="DIN Next LT Pro" panose="020B0503020203050203" pitchFamily="34" charset="0"/>
              </a:rPr>
              <a:t>Factor que describe la profundidad del bloque equivalente de compresiones propuesto por Whitney.</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Fy:</a:t>
            </a:r>
            <a:r>
              <a:rPr lang="es-CO" sz="1200" dirty="0">
                <a:latin typeface="DIN Next LT Pro" panose="020B0503020203050203" pitchFamily="34" charset="0"/>
              </a:rPr>
              <a:t> Resistencia a la tracción del acero de refuerzo en MPa.</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Es</a:t>
            </a:r>
            <a:r>
              <a:rPr lang="es-CO" sz="1200" dirty="0">
                <a:latin typeface="DIN Next LT Pro" panose="020B0503020203050203" pitchFamily="34" charset="0"/>
              </a:rPr>
              <a:t>: Módulo de elasticidad del acero de refuerzo en MPa.</a:t>
            </a:r>
          </a:p>
          <a:p>
            <a:pPr marL="182563" indent="-182563" algn="just">
              <a:spcAft>
                <a:spcPts val="600"/>
              </a:spcAft>
              <a:buFont typeface="Wingdings" panose="05000000000000000000" pitchFamily="2" charset="2"/>
              <a:buChar char="Ø"/>
            </a:pPr>
            <a:endParaRPr lang="es-CO" sz="1200" dirty="0">
              <a:latin typeface="DIN Next LT Pro" panose="020B0503020203050203" pitchFamily="34" charset="0"/>
            </a:endParaRPr>
          </a:p>
          <a:p>
            <a:pPr marL="182563" indent="-182563" algn="just">
              <a:spcAft>
                <a:spcPts val="600"/>
              </a:spcAft>
              <a:buFont typeface="Wingdings" panose="05000000000000000000" pitchFamily="2" charset="2"/>
              <a:buChar char="Ø"/>
            </a:pPr>
            <a:endParaRPr lang="es-CO" sz="1400" dirty="0">
              <a:latin typeface="DIN Next LT Pro" panose="020B0503020203050203" pitchFamily="34" charset="0"/>
            </a:endParaRPr>
          </a:p>
        </p:txBody>
      </p:sp>
    </p:spTree>
    <p:extLst>
      <p:ext uri="{BB962C8B-B14F-4D97-AF65-F5344CB8AC3E}">
        <p14:creationId xmlns:p14="http://schemas.microsoft.com/office/powerpoint/2010/main" val="28866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Opciones – </a:t>
            </a:r>
            <a:r>
              <a:rPr lang="es-CO" sz="2000" dirty="0">
                <a:solidFill>
                  <a:srgbClr val="23F72A"/>
                </a:solidFill>
                <a:latin typeface="DIN Next LT Pro" panose="020B0503020203050203" pitchFamily="34" charset="0"/>
              </a:rPr>
              <a:t>Refuerzo</a:t>
            </a:r>
            <a:endParaRPr lang="en-US" sz="2000" dirty="0">
              <a:solidFill>
                <a:srgbClr val="23F72A"/>
              </a:solidFill>
              <a:latin typeface="DIN Next LT Pro" panose="020B0503020203050203" pitchFamily="34" charset="0"/>
            </a:endParaRP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569660"/>
          </a:xfrm>
          <a:prstGeom prst="rect">
            <a:avLst/>
          </a:prstGeom>
          <a:noFill/>
        </p:spPr>
        <p:txBody>
          <a:bodyPr wrap="square" rtlCol="0">
            <a:spAutoFit/>
          </a:bodyPr>
          <a:lstStyle/>
          <a:p>
            <a:pPr algn="just"/>
            <a:r>
              <a:rPr lang="es-CO" sz="1600" dirty="0">
                <a:latin typeface="DIN Next LT Pro" panose="020B0503020203050203" pitchFamily="34" charset="0"/>
              </a:rPr>
              <a:t>En la opción número tres encontramos Opciones – Refuerzo, al hacer clic en esta opción se abrirá la siguiente ventana emergente. En ella se puede visualizar las propiedades del acero de refuerzo utilizadas en el programa.</a:t>
            </a:r>
          </a:p>
          <a:p>
            <a:pPr algn="just"/>
            <a:endParaRPr lang="es-CO" sz="1600" dirty="0">
              <a:latin typeface="DIN Next LT Pro" panose="020B0503020203050203" pitchFamily="34" charset="0"/>
            </a:endParaRPr>
          </a:p>
        </p:txBody>
      </p:sp>
      <p:pic>
        <p:nvPicPr>
          <p:cNvPr id="16" name="Imagen 15">
            <a:extLst>
              <a:ext uri="{FF2B5EF4-FFF2-40B4-BE49-F238E27FC236}">
                <a16:creationId xmlns:a16="http://schemas.microsoft.com/office/drawing/2014/main" id="{326985CF-F278-4337-9CD4-560C229FE7F0}"/>
              </a:ext>
            </a:extLst>
          </p:cNvPr>
          <p:cNvPicPr>
            <a:picLocks noChangeAspect="1"/>
          </p:cNvPicPr>
          <p:nvPr/>
        </p:nvPicPr>
        <p:blipFill>
          <a:blip r:embed="rId2"/>
          <a:stretch>
            <a:fillRect/>
          </a:stretch>
        </p:blipFill>
        <p:spPr>
          <a:xfrm>
            <a:off x="396882" y="2507998"/>
            <a:ext cx="4267201" cy="2458490"/>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a:off x="1621940" y="2849757"/>
            <a:ext cx="5101077" cy="328872"/>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7F6B1723-186B-472B-84F0-ADC8E426B079}"/>
              </a:ext>
            </a:extLst>
          </p:cNvPr>
          <p:cNvPicPr>
            <a:picLocks noChangeAspect="1"/>
          </p:cNvPicPr>
          <p:nvPr/>
        </p:nvPicPr>
        <p:blipFill>
          <a:blip r:embed="rId3"/>
          <a:stretch>
            <a:fillRect/>
          </a:stretch>
        </p:blipFill>
        <p:spPr>
          <a:xfrm>
            <a:off x="6855076" y="2703260"/>
            <a:ext cx="4647480" cy="2940983"/>
          </a:xfrm>
          <a:prstGeom prst="rect">
            <a:avLst/>
          </a:prstGeom>
        </p:spPr>
      </p:pic>
    </p:spTree>
    <p:extLst>
      <p:ext uri="{BB962C8B-B14F-4D97-AF65-F5344CB8AC3E}">
        <p14:creationId xmlns:p14="http://schemas.microsoft.com/office/powerpoint/2010/main" val="407386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Ayuda – Soporte</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En la opción número cuatro encontramos Ayuda – Soporte, al hacer clic en esta opción se abrirá un archivo en pdf en donde se puede visualizar la información relacionada con la empresa que desarrolla el programa e información acerca del funcionamiento del programa.</a:t>
            </a:r>
          </a:p>
        </p:txBody>
      </p:sp>
      <p:pic>
        <p:nvPicPr>
          <p:cNvPr id="4" name="Imagen 3">
            <a:extLst>
              <a:ext uri="{FF2B5EF4-FFF2-40B4-BE49-F238E27FC236}">
                <a16:creationId xmlns:a16="http://schemas.microsoft.com/office/drawing/2014/main" id="{E86FDE1E-DC84-4CEB-BEFD-E75821ED3008}"/>
              </a:ext>
            </a:extLst>
          </p:cNvPr>
          <p:cNvPicPr>
            <a:picLocks noChangeAspect="1"/>
          </p:cNvPicPr>
          <p:nvPr/>
        </p:nvPicPr>
        <p:blipFill>
          <a:blip r:embed="rId2"/>
          <a:stretch>
            <a:fillRect/>
          </a:stretch>
        </p:blipFill>
        <p:spPr>
          <a:xfrm>
            <a:off x="396882" y="2412138"/>
            <a:ext cx="4462495" cy="2576077"/>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2037807" y="2759115"/>
            <a:ext cx="5059679" cy="106005"/>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BE0F7553-28D6-4C5B-BC94-6E3A59324CF5}"/>
              </a:ext>
            </a:extLst>
          </p:cNvPr>
          <p:cNvPicPr>
            <a:picLocks noChangeAspect="1"/>
          </p:cNvPicPr>
          <p:nvPr/>
        </p:nvPicPr>
        <p:blipFill>
          <a:blip r:embed="rId3"/>
          <a:stretch>
            <a:fillRect/>
          </a:stretch>
        </p:blipFill>
        <p:spPr>
          <a:xfrm>
            <a:off x="7546388" y="2431574"/>
            <a:ext cx="3093627" cy="3992881"/>
          </a:xfrm>
          <a:prstGeom prst="rect">
            <a:avLst/>
          </a:prstGeom>
        </p:spPr>
      </p:pic>
    </p:spTree>
    <p:extLst>
      <p:ext uri="{BB962C8B-B14F-4D97-AF65-F5344CB8AC3E}">
        <p14:creationId xmlns:p14="http://schemas.microsoft.com/office/powerpoint/2010/main" val="629216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Ayuda – Acerca</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En la opción número cuatro encontramos Ayuda – Acerca, al hacer clic en esta opción se abrirá la siguiente ventana emergente. En ella se puede visualizar la información relacionada con la empresa quien desarrolló el software, además de la licencia.</a:t>
            </a:r>
          </a:p>
        </p:txBody>
      </p:sp>
      <p:pic>
        <p:nvPicPr>
          <p:cNvPr id="15" name="Imagen 14">
            <a:extLst>
              <a:ext uri="{FF2B5EF4-FFF2-40B4-BE49-F238E27FC236}">
                <a16:creationId xmlns:a16="http://schemas.microsoft.com/office/drawing/2014/main" id="{C162DF55-2405-43BB-B696-E2E919691250}"/>
              </a:ext>
            </a:extLst>
          </p:cNvPr>
          <p:cNvPicPr>
            <a:picLocks noChangeAspect="1"/>
          </p:cNvPicPr>
          <p:nvPr/>
        </p:nvPicPr>
        <p:blipFill>
          <a:blip r:embed="rId2"/>
          <a:stretch>
            <a:fillRect/>
          </a:stretch>
        </p:blipFill>
        <p:spPr>
          <a:xfrm>
            <a:off x="7171919" y="2692041"/>
            <a:ext cx="3800475" cy="2228850"/>
          </a:xfrm>
          <a:prstGeom prst="rect">
            <a:avLst/>
          </a:prstGeom>
        </p:spPr>
      </p:pic>
      <p:pic>
        <p:nvPicPr>
          <p:cNvPr id="13" name="Imagen 12">
            <a:extLst>
              <a:ext uri="{FF2B5EF4-FFF2-40B4-BE49-F238E27FC236}">
                <a16:creationId xmlns:a16="http://schemas.microsoft.com/office/drawing/2014/main" id="{04BAD26A-0303-4F93-A971-C2C473360772}"/>
              </a:ext>
            </a:extLst>
          </p:cNvPr>
          <p:cNvPicPr>
            <a:picLocks noChangeAspect="1"/>
          </p:cNvPicPr>
          <p:nvPr/>
        </p:nvPicPr>
        <p:blipFill>
          <a:blip r:embed="rId3"/>
          <a:stretch>
            <a:fillRect/>
          </a:stretch>
        </p:blipFill>
        <p:spPr>
          <a:xfrm>
            <a:off x="394436" y="2506304"/>
            <a:ext cx="4368994" cy="2520000"/>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2011680" y="2759115"/>
            <a:ext cx="5085806" cy="297594"/>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49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Pagina</a:t>
            </a:r>
            <a:r>
              <a:rPr lang="en-US" sz="2000" kern="1200" dirty="0">
                <a:solidFill>
                  <a:srgbClr val="28F524"/>
                </a:solidFill>
                <a:latin typeface="DIN Next LT Pro" panose="020B0503020203050203" pitchFamily="34" charset="0"/>
              </a:rPr>
              <a:t> principal del programa – Opciones de ti</a:t>
            </a:r>
            <a:r>
              <a:rPr lang="en-US" sz="2000" dirty="0">
                <a:solidFill>
                  <a:srgbClr val="28F524"/>
                </a:solidFill>
                <a:latin typeface="DIN Next LT Pro" panose="020B0503020203050203" pitchFamily="34" charset="0"/>
              </a:rPr>
              <a:t>pos de secciones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F454F641-A0FD-41DF-B11F-4C84E61BF21A}"/>
              </a:ext>
            </a:extLst>
          </p:cNvPr>
          <p:cNvPicPr>
            <a:picLocks noChangeAspect="1"/>
          </p:cNvPicPr>
          <p:nvPr/>
        </p:nvPicPr>
        <p:blipFill>
          <a:blip r:embed="rId2"/>
          <a:stretch>
            <a:fillRect/>
          </a:stretch>
        </p:blipFill>
        <p:spPr>
          <a:xfrm>
            <a:off x="4331143" y="2401823"/>
            <a:ext cx="7152505" cy="4112691"/>
          </a:xfrm>
          <a:prstGeom prst="rect">
            <a:avLst/>
          </a:prstGeom>
        </p:spPr>
      </p:pic>
      <p:sp>
        <p:nvSpPr>
          <p:cNvPr id="4" name="Rectángulo 3">
            <a:extLst>
              <a:ext uri="{FF2B5EF4-FFF2-40B4-BE49-F238E27FC236}">
                <a16:creationId xmlns:a16="http://schemas.microsoft.com/office/drawing/2014/main" id="{4E454173-D601-490B-9779-688D1840BB75}"/>
              </a:ext>
            </a:extLst>
          </p:cNvPr>
          <p:cNvSpPr/>
          <p:nvPr/>
        </p:nvSpPr>
        <p:spPr>
          <a:xfrm>
            <a:off x="4963899" y="4310743"/>
            <a:ext cx="1942011" cy="940526"/>
          </a:xfrm>
          <a:prstGeom prst="rect">
            <a:avLst/>
          </a:prstGeom>
          <a:noFill/>
          <a:ln w="28575">
            <a:solidFill>
              <a:srgbClr val="75B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 name="Conector: angular 5">
            <a:extLst>
              <a:ext uri="{FF2B5EF4-FFF2-40B4-BE49-F238E27FC236}">
                <a16:creationId xmlns:a16="http://schemas.microsoft.com/office/drawing/2014/main" id="{BE7A07E7-8138-4EFB-8AA2-598F697F14C9}"/>
              </a:ext>
            </a:extLst>
          </p:cNvPr>
          <p:cNvCxnSpPr/>
          <p:nvPr/>
        </p:nvCxnSpPr>
        <p:spPr>
          <a:xfrm rot="10800000">
            <a:off x="3622779" y="3047498"/>
            <a:ext cx="1341120" cy="1263245"/>
          </a:xfrm>
          <a:prstGeom prst="bentConnector3">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1323439"/>
          </a:xfrm>
          <a:prstGeom prst="rect">
            <a:avLst/>
          </a:prstGeom>
          <a:noFill/>
        </p:spPr>
        <p:txBody>
          <a:bodyPr wrap="square" rtlCol="0">
            <a:spAutoFit/>
          </a:bodyPr>
          <a:lstStyle/>
          <a:p>
            <a:pPr algn="just"/>
            <a:r>
              <a:rPr lang="es-CO" sz="1600" dirty="0">
                <a:latin typeface="DIN Next LT Pro" panose="020B0503020203050203" pitchFamily="34" charset="0"/>
              </a:rPr>
              <a:t>StruCheck V.1.0 tiene entre sus funciones el análisis de dos tipos de secciones, la primera se trata de una sección Rectangular y la segunda de una sección Circular.</a:t>
            </a:r>
          </a:p>
        </p:txBody>
      </p:sp>
    </p:spTree>
    <p:extLst>
      <p:ext uri="{BB962C8B-B14F-4D97-AF65-F5344CB8AC3E}">
        <p14:creationId xmlns:p14="http://schemas.microsoft.com/office/powerpoint/2010/main" val="1067893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1077218"/>
          </a:xfrm>
          <a:prstGeom prst="rect">
            <a:avLst/>
          </a:prstGeom>
          <a:noFill/>
        </p:spPr>
        <p:txBody>
          <a:bodyPr wrap="square" rtlCol="0">
            <a:spAutoFit/>
          </a:bodyPr>
          <a:lstStyle/>
          <a:p>
            <a:pPr algn="just"/>
            <a:r>
              <a:rPr lang="es-CO" sz="1600" dirty="0">
                <a:latin typeface="DIN Next LT Pro" panose="020B0503020203050203" pitchFamily="34" charset="0"/>
              </a:rPr>
              <a:t>Al hacer clic en la opción Análisis de sección Rectangular/Cuadrada, se abrirá la siguiente ventana emergente.</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Tree>
    <p:extLst>
      <p:ext uri="{BB962C8B-B14F-4D97-AF65-F5344CB8AC3E}">
        <p14:creationId xmlns:p14="http://schemas.microsoft.com/office/powerpoint/2010/main" val="53871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dirty="0">
                <a:solidFill>
                  <a:srgbClr val="28F524"/>
                </a:solidFill>
                <a:latin typeface="DIN Next LT Pro" panose="020B0503020203050203" pitchFamily="34" charset="0"/>
              </a:rPr>
              <a:t>Pestaña Importar – Datos de Excel</a:t>
            </a:r>
            <a:endParaRPr lang="en-US" sz="20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1 encontramos la opción Importar, por medio de esta se debe ingresar el libro de Excel que contiene las solicitaciones que se obtuvieron en el programa ETABS; para ello encontraremos dos opciones que describen el tipo de elemento que fue modelado en el programa de análisis tridimensional.</a:t>
            </a:r>
          </a:p>
          <a:p>
            <a:pPr algn="just"/>
            <a:r>
              <a:rPr lang="es-CO" sz="1600" dirty="0">
                <a:latin typeface="DIN Next LT Pro" panose="020B0503020203050203" pitchFamily="34" charset="0"/>
              </a:rPr>
              <a:t>Nota:</a:t>
            </a:r>
          </a:p>
          <a:p>
            <a:pPr marL="180975" indent="-180975" algn="just">
              <a:buFont typeface="Wingdings" panose="05000000000000000000" pitchFamily="2" charset="2"/>
              <a:buChar char="Ø"/>
            </a:pPr>
            <a:r>
              <a:rPr lang="es-CO" sz="1400" dirty="0">
                <a:latin typeface="DIN Next LT Pro" panose="020B0503020203050203" pitchFamily="34" charset="0"/>
              </a:rPr>
              <a:t>Es importante tener claro el tipo de elemento que será analizado porque de lo contrario se generará un error en el análisis debido al orden en el que se obtienen los datos en cada uno de ellos. </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6" name="Rectángulo 5">
            <a:extLst>
              <a:ext uri="{FF2B5EF4-FFF2-40B4-BE49-F238E27FC236}">
                <a16:creationId xmlns:a16="http://schemas.microsoft.com/office/drawing/2014/main" id="{4E19FF4E-76CC-4AB7-9F2E-6F3CE548284D}"/>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DC451220-5BEC-458C-AC01-1649E462D513}"/>
              </a:ext>
            </a:extLst>
          </p:cNvPr>
          <p:cNvPicPr>
            <a:picLocks noChangeAspect="1"/>
          </p:cNvPicPr>
          <p:nvPr/>
        </p:nvPicPr>
        <p:blipFill>
          <a:blip r:embed="rId3"/>
          <a:stretch>
            <a:fillRect/>
          </a:stretch>
        </p:blipFill>
        <p:spPr>
          <a:xfrm>
            <a:off x="4657725" y="2749946"/>
            <a:ext cx="4732402" cy="21791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 name="Conector recto 7">
            <a:extLst>
              <a:ext uri="{FF2B5EF4-FFF2-40B4-BE49-F238E27FC236}">
                <a16:creationId xmlns:a16="http://schemas.microsoft.com/office/drawing/2014/main" id="{926F7D27-AF38-461A-A20C-20525DD70463}"/>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1F8377F9-D80D-44AA-A882-6D84C85F439D}"/>
              </a:ext>
            </a:extLst>
          </p:cNvPr>
          <p:cNvCxnSpPr>
            <a:cxnSpLocks/>
          </p:cNvCxnSpPr>
          <p:nvPr/>
        </p:nvCxnSpPr>
        <p:spPr>
          <a:xfrm>
            <a:off x="5521234" y="2310834"/>
            <a:ext cx="3868893" cy="4204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253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a:t>
            </a:r>
            <a:r>
              <a:rPr lang="es-CO" sz="2000" dirty="0">
                <a:solidFill>
                  <a:srgbClr val="28F524"/>
                </a:solidFill>
                <a:latin typeface="DIN Next LT Pro" panose="020B0503020203050203" pitchFamily="34" charset="0"/>
              </a:rPr>
              <a:t>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4185761"/>
          </a:xfrm>
          <a:prstGeom prst="rect">
            <a:avLst/>
          </a:prstGeom>
          <a:noFill/>
        </p:spPr>
        <p:txBody>
          <a:bodyPr wrap="square" rtlCol="0">
            <a:spAutoFit/>
          </a:bodyPr>
          <a:lstStyle/>
          <a:p>
            <a:pPr algn="just"/>
            <a:r>
              <a:rPr lang="es-CO" sz="1600" dirty="0">
                <a:latin typeface="DIN Next LT Pro" panose="020B0503020203050203" pitchFamily="34" charset="0"/>
              </a:rPr>
              <a:t>Para ingresar el detallado del acero de refuerzo, se debe dar clic en el botón Ingresar y a continuación aparecerá la siguiente ventana emergente.</a:t>
            </a:r>
          </a:p>
          <a:p>
            <a:pPr algn="just"/>
            <a:endParaRPr lang="es-CO" sz="1600" dirty="0">
              <a:latin typeface="DIN Next LT Pro" panose="020B0503020203050203" pitchFamily="34" charset="0"/>
            </a:endParaRPr>
          </a:p>
          <a:p>
            <a:pPr algn="just"/>
            <a:r>
              <a:rPr lang="es-CO" sz="1600" dirty="0">
                <a:latin typeface="DIN Next LT Pro" panose="020B0503020203050203" pitchFamily="34" charset="0"/>
              </a:rPr>
              <a:t>Procedimiento:</a:t>
            </a:r>
          </a:p>
          <a:p>
            <a:pPr algn="just"/>
            <a:endParaRPr lang="es-CO" sz="1600" dirty="0">
              <a:latin typeface="DIN Next LT Pro" panose="020B0503020203050203" pitchFamily="34" charset="0"/>
            </a:endParaRPr>
          </a:p>
          <a:p>
            <a:pPr marL="269875" indent="-269875" algn="just">
              <a:spcAft>
                <a:spcPts val="1200"/>
              </a:spcAft>
              <a:buFont typeface="+mj-lt"/>
              <a:buAutoNum type="arabicPeriod"/>
              <a:tabLst>
                <a:tab pos="269875" algn="l"/>
              </a:tabLst>
            </a:pPr>
            <a:r>
              <a:rPr lang="es-CO" sz="1600" dirty="0">
                <a:latin typeface="DIN Next LT Pro" panose="020B0503020203050203" pitchFamily="34" charset="0"/>
              </a:rPr>
              <a:t>Dar clic en el botón Agregar para mostrar la sección de análisis.</a:t>
            </a:r>
          </a:p>
          <a:p>
            <a:pPr marL="269875" indent="-269875" algn="just">
              <a:spcAft>
                <a:spcPts val="1200"/>
              </a:spcAft>
              <a:buFont typeface="+mj-lt"/>
              <a:buAutoNum type="arabicPeriod"/>
              <a:tabLst>
                <a:tab pos="269875" algn="l"/>
              </a:tabLst>
            </a:pPr>
            <a:r>
              <a:rPr lang="es-CO" sz="1600" dirty="0">
                <a:latin typeface="DIN Next LT Pro" panose="020B0503020203050203" pitchFamily="34" charset="0"/>
              </a:rPr>
              <a:t>La opción Patrón no es necesario modificarlo debido a que el programa realiza un conteo a medida que se añade uno nuevo.</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pic>
        <p:nvPicPr>
          <p:cNvPr id="8" name="Imagen 7">
            <a:extLst>
              <a:ext uri="{FF2B5EF4-FFF2-40B4-BE49-F238E27FC236}">
                <a16:creationId xmlns:a16="http://schemas.microsoft.com/office/drawing/2014/main" id="{95A1B52F-6556-45CD-8FD5-42754711F396}"/>
              </a:ext>
            </a:extLst>
          </p:cNvPr>
          <p:cNvPicPr>
            <a:picLocks noChangeAspect="1"/>
          </p:cNvPicPr>
          <p:nvPr/>
        </p:nvPicPr>
        <p:blipFill>
          <a:blip r:embed="rId3"/>
          <a:stretch>
            <a:fillRect/>
          </a:stretch>
        </p:blipFill>
        <p:spPr>
          <a:xfrm>
            <a:off x="5667766" y="2699658"/>
            <a:ext cx="5105123" cy="39237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431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4093428"/>
          </a:xfrm>
          <a:prstGeom prst="rect">
            <a:avLst/>
          </a:prstGeom>
          <a:noFill/>
        </p:spPr>
        <p:txBody>
          <a:bodyPr wrap="square" rtlCol="0">
            <a:spAutoFit/>
          </a:bodyPr>
          <a:lstStyle/>
          <a:p>
            <a:pPr marL="269875" indent="-269875" algn="just">
              <a:spcAft>
                <a:spcPts val="1200"/>
              </a:spcAft>
              <a:buFont typeface="+mj-lt"/>
              <a:buAutoNum type="arabicPeriod" startAt="3"/>
            </a:pPr>
            <a:r>
              <a:rPr lang="es-CO" sz="1600" dirty="0">
                <a:latin typeface="DIN Next LT Pro" panose="020B0503020203050203" pitchFamily="34" charset="0"/>
              </a:rPr>
              <a:t>Si se requiere ingresar solo 1 barra es necesario indicar tanto coordenada “X”, como la “Y”.</a:t>
            </a:r>
          </a:p>
          <a:p>
            <a:pPr marL="269875" indent="-269875" algn="just">
              <a:spcAft>
                <a:spcPts val="1200"/>
              </a:spcAft>
              <a:buFont typeface="+mj-lt"/>
              <a:buAutoNum type="arabicPeriod" startAt="3"/>
            </a:pPr>
            <a:r>
              <a:rPr lang="es-CO" sz="1600" dirty="0">
                <a:latin typeface="DIN Next LT Pro" panose="020B0503020203050203" pitchFamily="34" charset="0"/>
              </a:rPr>
              <a:t>Si se ingresará más de 1 barra basta con ingresar la coordenada “Y”, ya que el programa está diseñado para ingresar paquetes de barras en sentido horizontal.</a:t>
            </a:r>
          </a:p>
          <a:p>
            <a:pPr marL="269875" indent="-269875" algn="just">
              <a:spcAft>
                <a:spcPts val="1200"/>
              </a:spcAft>
              <a:buFont typeface="+mj-lt"/>
              <a:buAutoNum type="arabicPeriod" startAt="3"/>
            </a:pPr>
            <a:r>
              <a:rPr lang="es-CO" sz="1600" dirty="0">
                <a:latin typeface="DIN Next LT Pro" panose="020B0503020203050203" pitchFamily="34" charset="0"/>
              </a:rPr>
              <a:t>El refuerzo transversal adicional corresponde a las ramas de estribos adicionales que tiene la sección (No debe tenerse en cuanta el estribo perimetral).</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pic>
        <p:nvPicPr>
          <p:cNvPr id="8" name="Imagen 7">
            <a:extLst>
              <a:ext uri="{FF2B5EF4-FFF2-40B4-BE49-F238E27FC236}">
                <a16:creationId xmlns:a16="http://schemas.microsoft.com/office/drawing/2014/main" id="{95A1B52F-6556-45CD-8FD5-42754711F396}"/>
              </a:ext>
            </a:extLst>
          </p:cNvPr>
          <p:cNvPicPr>
            <a:picLocks noChangeAspect="1"/>
          </p:cNvPicPr>
          <p:nvPr/>
        </p:nvPicPr>
        <p:blipFill>
          <a:blip r:embed="rId3"/>
          <a:stretch>
            <a:fillRect/>
          </a:stretch>
        </p:blipFill>
        <p:spPr>
          <a:xfrm>
            <a:off x="5667766" y="2699658"/>
            <a:ext cx="5105123" cy="39237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45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3693319"/>
          </a:xfrm>
          <a:prstGeom prst="rect">
            <a:avLst/>
          </a:prstGeom>
          <a:noFill/>
        </p:spPr>
        <p:txBody>
          <a:bodyPr wrap="square" rtlCol="0">
            <a:spAutoFit/>
          </a:bodyPr>
          <a:lstStyle/>
          <a:p>
            <a:pPr marL="269875" indent="-269875" algn="just">
              <a:spcAft>
                <a:spcPts val="1200"/>
              </a:spcAft>
              <a:buFont typeface="+mj-lt"/>
              <a:buAutoNum type="arabicPeriod" startAt="6"/>
            </a:pPr>
            <a:r>
              <a:rPr lang="es-CO" sz="1600" dirty="0">
                <a:latin typeface="DIN Next LT Pro" panose="020B0503020203050203" pitchFamily="34" charset="0"/>
              </a:rPr>
              <a:t>El número de ramas adicionales de refuerzo transversal en sentido perpendicular a X, corresponde a las ramas que se cortan con una recta imaginaria en dirección “X”.</a:t>
            </a:r>
          </a:p>
          <a:p>
            <a:pPr marL="269875" indent="-269875" algn="just">
              <a:spcAft>
                <a:spcPts val="1200"/>
              </a:spcAft>
              <a:buFont typeface="+mj-lt"/>
              <a:buAutoNum type="arabicPeriod" startAt="6"/>
            </a:pPr>
            <a:r>
              <a:rPr lang="es-CO" sz="1600" dirty="0">
                <a:latin typeface="DIN Next LT Pro" panose="020B0503020203050203" pitchFamily="34" charset="0"/>
              </a:rPr>
              <a:t>El número de ramas adicionales de refuerzo transversal en sentido perpendicular a Y, corresponde a las ramas que se cortan con una recta imaginaria en dirección “Y”.</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14ACEA36-60B1-4904-84EC-4FF4F6E6D16B}"/>
              </a:ext>
            </a:extLst>
          </p:cNvPr>
          <p:cNvPicPr>
            <a:picLocks noChangeAspect="1"/>
          </p:cNvPicPr>
          <p:nvPr/>
        </p:nvPicPr>
        <p:blipFill>
          <a:blip r:embed="rId3"/>
          <a:stretch>
            <a:fillRect/>
          </a:stretch>
        </p:blipFill>
        <p:spPr>
          <a:xfrm>
            <a:off x="5678623" y="2700590"/>
            <a:ext cx="4869186" cy="392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23098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196977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Una vez ingresada toda la información, se prosigue a dar clic en el botón Agregar, realizar un proceso iterativo entre los pasos 1 al 4 hasta completar la sección de requerida.</a:t>
            </a:r>
          </a:p>
          <a:p>
            <a:pPr marL="269875" indent="-269875" algn="just">
              <a:spcAft>
                <a:spcPts val="1200"/>
              </a:spcAft>
              <a:buFont typeface="+mj-lt"/>
              <a:buAutoNum type="arabicPeriod" startAt="6"/>
            </a:pPr>
            <a:endParaRPr lang="es-CO" sz="16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88019"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14ACEA36-60B1-4904-84EC-4FF4F6E6D16B}"/>
              </a:ext>
            </a:extLst>
          </p:cNvPr>
          <p:cNvPicPr>
            <a:picLocks noChangeAspect="1"/>
          </p:cNvPicPr>
          <p:nvPr/>
        </p:nvPicPr>
        <p:blipFill>
          <a:blip r:embed="rId3"/>
          <a:stretch>
            <a:fillRect/>
          </a:stretch>
        </p:blipFill>
        <p:spPr>
          <a:xfrm>
            <a:off x="5678623" y="2700590"/>
            <a:ext cx="4869186" cy="392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2374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Dirección de Análisis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3016210"/>
          </a:xfrm>
          <a:prstGeom prst="rect">
            <a:avLst/>
          </a:prstGeom>
          <a:noFill/>
        </p:spPr>
        <p:txBody>
          <a:bodyPr wrap="square" rtlCol="0">
            <a:spAutoFit/>
          </a:bodyPr>
          <a:lstStyle/>
          <a:p>
            <a:pPr marL="285750" indent="-285750" algn="just">
              <a:spcAft>
                <a:spcPts val="1200"/>
              </a:spcAft>
              <a:buFont typeface="Wingdings" panose="05000000000000000000" pitchFamily="2" charset="2"/>
              <a:buChar char="Ø"/>
            </a:pPr>
            <a:r>
              <a:rPr lang="es-CO" sz="1600" dirty="0">
                <a:latin typeface="DIN Next LT Pro" panose="020B0503020203050203" pitchFamily="34" charset="0"/>
              </a:rPr>
              <a:t>La dirección de análisis P-M2 corresponde a las solicitaciones de la sección que se tienen alrededor del eje Y.</a:t>
            </a:r>
          </a:p>
          <a:p>
            <a:pPr marL="285750" indent="-285750" algn="just">
              <a:spcAft>
                <a:spcPts val="1200"/>
              </a:spcAft>
              <a:buFont typeface="Wingdings" panose="05000000000000000000" pitchFamily="2" charset="2"/>
              <a:buChar char="Ø"/>
            </a:pPr>
            <a:endParaRPr lang="es-CO" sz="1600" dirty="0">
              <a:latin typeface="DIN Next LT Pro" panose="020B0503020203050203" pitchFamily="34" charset="0"/>
            </a:endParaRPr>
          </a:p>
          <a:p>
            <a:pPr marL="285750" indent="-285750" algn="just">
              <a:spcAft>
                <a:spcPts val="1200"/>
              </a:spcAft>
              <a:buFont typeface="Wingdings" panose="05000000000000000000" pitchFamily="2" charset="2"/>
              <a:buChar char="Ø"/>
            </a:pPr>
            <a:r>
              <a:rPr lang="es-CO" sz="1600" dirty="0">
                <a:latin typeface="DIN Next LT Pro" panose="020B0503020203050203" pitchFamily="34" charset="0"/>
              </a:rPr>
              <a:t>La dirección de análisis P-M3 corresponde a las solicitaciones de la sección que se tienen alrededor del eje X.</a:t>
            </a:r>
          </a:p>
          <a:p>
            <a:pPr marL="285750" indent="-285750" algn="just">
              <a:spcAft>
                <a:spcPts val="1200"/>
              </a:spcAft>
              <a:buFont typeface="Wingdings" panose="05000000000000000000" pitchFamily="2" charset="2"/>
              <a:buChar char="Ø"/>
            </a:pPr>
            <a:endParaRPr lang="es-CO" sz="16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4827"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3746490" y="4735286"/>
            <a:ext cx="1557029" cy="47244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flipV="1">
            <a:off x="5303519" y="3893344"/>
            <a:ext cx="4012630" cy="13143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3746490" y="2750344"/>
            <a:ext cx="1730385" cy="20106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5AA790B2-A7A2-43C1-921A-FE6C76C8B478}"/>
              </a:ext>
            </a:extLst>
          </p:cNvPr>
          <p:cNvPicPr>
            <a:picLocks noChangeAspect="1"/>
          </p:cNvPicPr>
          <p:nvPr/>
        </p:nvPicPr>
        <p:blipFill>
          <a:blip r:embed="rId3"/>
          <a:stretch>
            <a:fillRect/>
          </a:stretch>
        </p:blipFill>
        <p:spPr>
          <a:xfrm>
            <a:off x="5497486" y="2773801"/>
            <a:ext cx="3800983" cy="10994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37" name="Grupo 36">
            <a:extLst>
              <a:ext uri="{FF2B5EF4-FFF2-40B4-BE49-F238E27FC236}">
                <a16:creationId xmlns:a16="http://schemas.microsoft.com/office/drawing/2014/main" id="{5196E08F-DB5A-4AAB-9B5F-C48A5D77E8D7}"/>
              </a:ext>
            </a:extLst>
          </p:cNvPr>
          <p:cNvGrpSpPr/>
          <p:nvPr/>
        </p:nvGrpSpPr>
        <p:grpSpPr>
          <a:xfrm>
            <a:off x="9457590" y="3855917"/>
            <a:ext cx="2185718" cy="2703618"/>
            <a:chOff x="976314" y="3709434"/>
            <a:chExt cx="2185718" cy="2703618"/>
          </a:xfrm>
        </p:grpSpPr>
        <p:pic>
          <p:nvPicPr>
            <p:cNvPr id="22" name="Imagen 21">
              <a:extLst>
                <a:ext uri="{FF2B5EF4-FFF2-40B4-BE49-F238E27FC236}">
                  <a16:creationId xmlns:a16="http://schemas.microsoft.com/office/drawing/2014/main" id="{751DF77F-6BF5-492C-B3E7-A11863FD4C39}"/>
                </a:ext>
              </a:extLst>
            </p:cNvPr>
            <p:cNvPicPr>
              <a:picLocks noChangeAspect="1"/>
            </p:cNvPicPr>
            <p:nvPr/>
          </p:nvPicPr>
          <p:blipFill>
            <a:blip r:embed="rId4"/>
            <a:stretch>
              <a:fillRect/>
            </a:stretch>
          </p:blipFill>
          <p:spPr>
            <a:xfrm>
              <a:off x="976314" y="3709434"/>
              <a:ext cx="2185718" cy="2703618"/>
            </a:xfrm>
            <a:prstGeom prst="rect">
              <a:avLst/>
            </a:prstGeom>
          </p:spPr>
        </p:pic>
        <p:grpSp>
          <p:nvGrpSpPr>
            <p:cNvPr id="32" name="Grupo 31">
              <a:extLst>
                <a:ext uri="{FF2B5EF4-FFF2-40B4-BE49-F238E27FC236}">
                  <a16:creationId xmlns:a16="http://schemas.microsoft.com/office/drawing/2014/main" id="{3AAFBD74-B593-4878-867A-D9451B29BACD}"/>
                </a:ext>
              </a:extLst>
            </p:cNvPr>
            <p:cNvGrpSpPr/>
            <p:nvPr/>
          </p:nvGrpSpPr>
          <p:grpSpPr>
            <a:xfrm>
              <a:off x="1649743" y="4514306"/>
              <a:ext cx="914400" cy="914400"/>
              <a:chOff x="1757686" y="4750525"/>
              <a:chExt cx="914400" cy="914400"/>
            </a:xfrm>
          </p:grpSpPr>
          <p:sp>
            <p:nvSpPr>
              <p:cNvPr id="25" name="Arco 24">
                <a:extLst>
                  <a:ext uri="{FF2B5EF4-FFF2-40B4-BE49-F238E27FC236}">
                    <a16:creationId xmlns:a16="http://schemas.microsoft.com/office/drawing/2014/main" id="{7BA7703A-E8F9-44AC-9902-F0E270F14FC1}"/>
                  </a:ext>
                </a:extLst>
              </p:cNvPr>
              <p:cNvSpPr/>
              <p:nvPr/>
            </p:nvSpPr>
            <p:spPr>
              <a:xfrm rot="18996541">
                <a:off x="1757686" y="4750525"/>
                <a:ext cx="914400" cy="914400"/>
              </a:xfrm>
              <a:prstGeom prst="arc">
                <a:avLst/>
              </a:prstGeom>
              <a:ln w="12700">
                <a:solidFill>
                  <a:srgbClr val="75B72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cxnSp>
            <p:nvCxnSpPr>
              <p:cNvPr id="28" name="Conector recto 27">
                <a:extLst>
                  <a:ext uri="{FF2B5EF4-FFF2-40B4-BE49-F238E27FC236}">
                    <a16:creationId xmlns:a16="http://schemas.microsoft.com/office/drawing/2014/main" id="{AAE32CF8-A323-43A6-A6C1-2FF1A13F7CD4}"/>
                  </a:ext>
                </a:extLst>
              </p:cNvPr>
              <p:cNvCxnSpPr>
                <a:cxnSpLocks/>
              </p:cNvCxnSpPr>
              <p:nvPr/>
            </p:nvCxnSpPr>
            <p:spPr>
              <a:xfrm flipV="1">
                <a:off x="2542363" y="4807744"/>
                <a:ext cx="6234" cy="85897"/>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21E3FF6C-D788-44CD-86AA-883589407F67}"/>
                  </a:ext>
                </a:extLst>
              </p:cNvPr>
              <p:cNvCxnSpPr>
                <a:cxnSpLocks/>
              </p:cNvCxnSpPr>
              <p:nvPr/>
            </p:nvCxnSpPr>
            <p:spPr>
              <a:xfrm>
                <a:off x="2469357" y="4888879"/>
                <a:ext cx="75387" cy="0"/>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grpSp>
        <p:grpSp>
          <p:nvGrpSpPr>
            <p:cNvPr id="33" name="Grupo 32">
              <a:extLst>
                <a:ext uri="{FF2B5EF4-FFF2-40B4-BE49-F238E27FC236}">
                  <a16:creationId xmlns:a16="http://schemas.microsoft.com/office/drawing/2014/main" id="{5CAC7ABA-9C3D-4168-8FF7-05E9B921B066}"/>
                </a:ext>
              </a:extLst>
            </p:cNvPr>
            <p:cNvGrpSpPr/>
            <p:nvPr/>
          </p:nvGrpSpPr>
          <p:grpSpPr>
            <a:xfrm rot="16200000" flipV="1">
              <a:off x="1899922" y="4683075"/>
              <a:ext cx="853093" cy="806477"/>
              <a:chOff x="1803067" y="4905597"/>
              <a:chExt cx="853093" cy="758629"/>
            </a:xfrm>
          </p:grpSpPr>
          <p:sp>
            <p:nvSpPr>
              <p:cNvPr id="34" name="Arco 33">
                <a:extLst>
                  <a:ext uri="{FF2B5EF4-FFF2-40B4-BE49-F238E27FC236}">
                    <a16:creationId xmlns:a16="http://schemas.microsoft.com/office/drawing/2014/main" id="{ECC29B27-AFD7-4F7E-860E-92A5BEAC5A62}"/>
                  </a:ext>
                </a:extLst>
              </p:cNvPr>
              <p:cNvSpPr/>
              <p:nvPr/>
            </p:nvSpPr>
            <p:spPr>
              <a:xfrm rot="18996541">
                <a:off x="1803067" y="4905597"/>
                <a:ext cx="853093" cy="758629"/>
              </a:xfrm>
              <a:prstGeom prst="arc">
                <a:avLst/>
              </a:prstGeom>
              <a:ln w="12700">
                <a:solidFill>
                  <a:srgbClr val="75B72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cxnSp>
            <p:nvCxnSpPr>
              <p:cNvPr id="35" name="Conector recto 34">
                <a:extLst>
                  <a:ext uri="{FF2B5EF4-FFF2-40B4-BE49-F238E27FC236}">
                    <a16:creationId xmlns:a16="http://schemas.microsoft.com/office/drawing/2014/main" id="{47F6BFB7-EDC0-4D02-9435-EF7B56FBC8F9}"/>
                  </a:ext>
                </a:extLst>
              </p:cNvPr>
              <p:cNvCxnSpPr>
                <a:cxnSpLocks/>
              </p:cNvCxnSpPr>
              <p:nvPr/>
            </p:nvCxnSpPr>
            <p:spPr>
              <a:xfrm flipV="1">
                <a:off x="2542363" y="4931690"/>
                <a:ext cx="6234" cy="85897"/>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CC333712-3D61-40DE-8DB4-DE0D544256B5}"/>
                  </a:ext>
                </a:extLst>
              </p:cNvPr>
              <p:cNvCxnSpPr>
                <a:cxnSpLocks/>
              </p:cNvCxnSpPr>
              <p:nvPr/>
            </p:nvCxnSpPr>
            <p:spPr>
              <a:xfrm>
                <a:off x="2469357" y="5012827"/>
                <a:ext cx="75387" cy="0"/>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grpSp>
      </p:grpSp>
      <p:sp>
        <p:nvSpPr>
          <p:cNvPr id="45" name="CuadroTexto 44">
            <a:extLst>
              <a:ext uri="{FF2B5EF4-FFF2-40B4-BE49-F238E27FC236}">
                <a16:creationId xmlns:a16="http://schemas.microsoft.com/office/drawing/2014/main" id="{797E30DF-3B1F-48A1-AB3E-BF5CCE479930}"/>
              </a:ext>
            </a:extLst>
          </p:cNvPr>
          <p:cNvSpPr txBox="1"/>
          <p:nvPr/>
        </p:nvSpPr>
        <p:spPr>
          <a:xfrm>
            <a:off x="10412818" y="4471665"/>
            <a:ext cx="349776" cy="246221"/>
          </a:xfrm>
          <a:prstGeom prst="rect">
            <a:avLst/>
          </a:prstGeom>
          <a:noFill/>
        </p:spPr>
        <p:txBody>
          <a:bodyPr wrap="none" rtlCol="0">
            <a:spAutoFit/>
          </a:bodyPr>
          <a:lstStyle/>
          <a:p>
            <a:r>
              <a:rPr lang="es-CO" sz="1000" dirty="0">
                <a:solidFill>
                  <a:srgbClr val="75B72A"/>
                </a:solidFill>
                <a:latin typeface="DIN Next LT Pro" panose="020B0503020203050203" pitchFamily="34" charset="0"/>
              </a:rPr>
              <a:t>M2</a:t>
            </a:r>
            <a:endParaRPr lang="es-CO" sz="1100" dirty="0">
              <a:solidFill>
                <a:srgbClr val="75B72A"/>
              </a:solidFill>
              <a:latin typeface="DIN Next LT Pro" panose="020B0503020203050203" pitchFamily="34" charset="0"/>
            </a:endParaRPr>
          </a:p>
        </p:txBody>
      </p:sp>
      <p:sp>
        <p:nvSpPr>
          <p:cNvPr id="46" name="CuadroTexto 45">
            <a:extLst>
              <a:ext uri="{FF2B5EF4-FFF2-40B4-BE49-F238E27FC236}">
                <a16:creationId xmlns:a16="http://schemas.microsoft.com/office/drawing/2014/main" id="{BF36EC1C-14AD-4AAF-998C-35BFF9659B1E}"/>
              </a:ext>
            </a:extLst>
          </p:cNvPr>
          <p:cNvSpPr txBox="1"/>
          <p:nvPr/>
        </p:nvSpPr>
        <p:spPr>
          <a:xfrm rot="5400000">
            <a:off x="11118210" y="5053647"/>
            <a:ext cx="349776" cy="246221"/>
          </a:xfrm>
          <a:prstGeom prst="rect">
            <a:avLst/>
          </a:prstGeom>
          <a:noFill/>
        </p:spPr>
        <p:txBody>
          <a:bodyPr wrap="none" rtlCol="0">
            <a:spAutoFit/>
          </a:bodyPr>
          <a:lstStyle/>
          <a:p>
            <a:r>
              <a:rPr lang="es-CO" sz="1000" dirty="0">
                <a:solidFill>
                  <a:srgbClr val="75B72A"/>
                </a:solidFill>
                <a:latin typeface="DIN Next LT Pro" panose="020B0503020203050203" pitchFamily="34" charset="0"/>
              </a:rPr>
              <a:t>M3</a:t>
            </a:r>
            <a:endParaRPr lang="es-CO" sz="1100" dirty="0">
              <a:solidFill>
                <a:srgbClr val="75B72A"/>
              </a:solidFill>
              <a:latin typeface="DIN Next LT Pro" panose="020B0503020203050203" pitchFamily="34" charset="0"/>
            </a:endParaRPr>
          </a:p>
        </p:txBody>
      </p:sp>
    </p:spTree>
    <p:extLst>
      <p:ext uri="{BB962C8B-B14F-4D97-AF65-F5344CB8AC3E}">
        <p14:creationId xmlns:p14="http://schemas.microsoft.com/office/powerpoint/2010/main" val="1040414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Gráfica y Sección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Gráfica y Sección, podremos visualizar el diagrama de interacción de la sección de análisis y las solicitaciones que se importaron para dicho análisis.</a:t>
            </a:r>
          </a:p>
        </p:txBody>
      </p:sp>
      <p:pic>
        <p:nvPicPr>
          <p:cNvPr id="7" name="Imagen 6">
            <a:extLst>
              <a:ext uri="{FF2B5EF4-FFF2-40B4-BE49-F238E27FC236}">
                <a16:creationId xmlns:a16="http://schemas.microsoft.com/office/drawing/2014/main" id="{569DF69B-B833-4F5B-B454-B30074555167}"/>
              </a:ext>
            </a:extLst>
          </p:cNvPr>
          <p:cNvPicPr>
            <a:picLocks noChangeAspect="1"/>
          </p:cNvPicPr>
          <p:nvPr/>
        </p:nvPicPr>
        <p:blipFill>
          <a:blip r:embed="rId2"/>
          <a:stretch>
            <a:fillRect/>
          </a:stretch>
        </p:blipFill>
        <p:spPr>
          <a:xfrm>
            <a:off x="3972031" y="2400301"/>
            <a:ext cx="7839184" cy="4240602"/>
          </a:xfrm>
          <a:prstGeom prst="rect">
            <a:avLst/>
          </a:prstGeom>
        </p:spPr>
      </p:pic>
      <p:pic>
        <p:nvPicPr>
          <p:cNvPr id="8" name="Imagen 7">
            <a:extLst>
              <a:ext uri="{FF2B5EF4-FFF2-40B4-BE49-F238E27FC236}">
                <a16:creationId xmlns:a16="http://schemas.microsoft.com/office/drawing/2014/main" id="{91736714-BAB4-44ED-9F84-DA1D8E6DAA20}"/>
              </a:ext>
            </a:extLst>
          </p:cNvPr>
          <p:cNvPicPr>
            <a:picLocks noChangeAspect="1"/>
          </p:cNvPicPr>
          <p:nvPr/>
        </p:nvPicPr>
        <p:blipFill rotWithShape="1">
          <a:blip r:embed="rId3"/>
          <a:srcRect l="26971" t="19152" r="13128" b="41767"/>
          <a:stretch/>
        </p:blipFill>
        <p:spPr>
          <a:xfrm>
            <a:off x="6924675" y="2803565"/>
            <a:ext cx="1649550" cy="463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ángulo 10">
            <a:extLst>
              <a:ext uri="{FF2B5EF4-FFF2-40B4-BE49-F238E27FC236}">
                <a16:creationId xmlns:a16="http://schemas.microsoft.com/office/drawing/2014/main" id="{94A58D4A-D2B7-47FB-857E-3818620DEFE4}"/>
              </a:ext>
            </a:extLst>
          </p:cNvPr>
          <p:cNvSpPr/>
          <p:nvPr/>
        </p:nvSpPr>
        <p:spPr>
          <a:xfrm>
            <a:off x="5600700" y="2460625"/>
            <a:ext cx="409575" cy="1524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600700" y="2613025"/>
            <a:ext cx="1323975" cy="6826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CD0EB076-1FFE-4ABB-A8D3-B331578BA34A}"/>
              </a:ext>
            </a:extLst>
          </p:cNvPr>
          <p:cNvCxnSpPr>
            <a:cxnSpLocks/>
          </p:cNvCxnSpPr>
          <p:nvPr/>
        </p:nvCxnSpPr>
        <p:spPr>
          <a:xfrm>
            <a:off x="6010275" y="2460625"/>
            <a:ext cx="2597150" cy="314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72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AFA7868-136B-4768-BD2D-1D9E304B6E5E}"/>
              </a:ext>
            </a:extLst>
          </p:cNvPr>
          <p:cNvPicPr>
            <a:picLocks noChangeAspect="1"/>
          </p:cNvPicPr>
          <p:nvPr/>
        </p:nvPicPr>
        <p:blipFill>
          <a:blip r:embed="rId2"/>
          <a:stretch>
            <a:fillRect/>
          </a:stretch>
        </p:blipFill>
        <p:spPr>
          <a:xfrm>
            <a:off x="3970415" y="2408371"/>
            <a:ext cx="7840800" cy="4229205"/>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Pestañas Cargas Últimas y Cargas Cortante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2954655"/>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Cargas últimas, podremos visualizar la tabla con las combinaciones de carga últimas que fueron importadas para el análisis.</a:t>
            </a:r>
          </a:p>
          <a:p>
            <a:pPr algn="just">
              <a:spcAft>
                <a:spcPts val="1200"/>
              </a:spcAft>
            </a:pPr>
            <a:r>
              <a:rPr lang="es-CO" sz="1600" dirty="0">
                <a:latin typeface="DIN Next LT Pro" panose="020B0503020203050203" pitchFamily="34" charset="0"/>
              </a:rPr>
              <a:t>En la pestaña Cargas Cortante, podremos visualizar la tabla con las combinaciones de carga teniendo en cuando el doble del sismo para la revisión de capacidad a la cortante.</a:t>
            </a: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3"/>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9515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336"/>
            <a:ext cx="3416400" cy="4308872"/>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Revisión se presentan los resultados obtenidos luego del análisis a la sección, allí se presenta una tabla en donde se especifica:</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a:t>
            </a:r>
            <a:r>
              <a:rPr lang="es-CO" sz="1600" dirty="0">
                <a:latin typeface="DIN Next LT Pro" panose="020B0503020203050203" pitchFamily="34" charset="0"/>
              </a:rPr>
              <a:t>: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Vs</a:t>
            </a:r>
            <a:r>
              <a:rPr lang="es-CO" sz="1600" dirty="0">
                <a:latin typeface="DIN Next LT Pro" panose="020B0503020203050203" pitchFamily="34" charset="0"/>
              </a:rPr>
              <a:t>: </a:t>
            </a:r>
            <a:r>
              <a:rPr lang="es-CO" sz="1400" dirty="0">
                <a:latin typeface="DIN Next LT Pro" panose="020B0503020203050203" pitchFamily="34" charset="0"/>
              </a:rPr>
              <a:t>Capacidad de cortante del acero de refuerzo.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a:t>
            </a:r>
            <a:r>
              <a:rPr lang="es-CO" sz="1600" dirty="0">
                <a:latin typeface="DIN Next LT Pro" panose="020B0503020203050203" pitchFamily="34" charset="0"/>
              </a:rPr>
              <a:t>: </a:t>
            </a:r>
            <a:r>
              <a:rPr lang="es-CO" sz="1400" dirty="0">
                <a:latin typeface="DIN Next LT Pro" panose="020B0503020203050203" pitchFamily="34" charset="0"/>
              </a:rPr>
              <a:t>Capacidad de cortante resistente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600" b="1"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68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336"/>
            <a:ext cx="3416400" cy="3570208"/>
          </a:xfrm>
          <a:prstGeom prst="rect">
            <a:avLst/>
          </a:prstGeom>
          <a:noFill/>
        </p:spPr>
        <p:txBody>
          <a:bodyPr wrap="square" rtlCol="0">
            <a:no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Vn/Vu</a:t>
            </a:r>
            <a:r>
              <a:rPr lang="es-CO" sz="1600" dirty="0">
                <a:latin typeface="DIN Next LT Pro" panose="020B0503020203050203" pitchFamily="34" charset="0"/>
              </a:rPr>
              <a:t>: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29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403"/>
            <a:ext cx="3415026" cy="4708981"/>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I0</a:t>
            </a:r>
            <a:r>
              <a:rPr lang="es-CO" sz="1400" dirty="0">
                <a:latin typeface="DIN Next LT Pro" panose="020B0503020203050203" pitchFamily="34" charset="0"/>
              </a:rPr>
              <a:t>: Longitud de confinamiento mínimo especificados por requisitos normativos en el numeral C.21.3.5.6 y C.21.6.4.1.</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S0</a:t>
            </a:r>
            <a:r>
              <a:rPr lang="es-CO" sz="1600" dirty="0">
                <a:latin typeface="DIN Next LT Pro" panose="020B0503020203050203" pitchFamily="34" charset="0"/>
              </a:rPr>
              <a:t>: </a:t>
            </a:r>
            <a:r>
              <a:rPr lang="es-CO" sz="1400" dirty="0">
                <a:latin typeface="DIN Next LT Pro" panose="020B0503020203050203" pitchFamily="34" charset="0"/>
              </a:rPr>
              <a:t>Separación de confinamiento máxima especificados por requisitos normativos en el numeral C.21.3.5.6 y C.21.6.4.3.</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Ash: </a:t>
            </a:r>
            <a:r>
              <a:rPr lang="es-CO" sz="1400" dirty="0">
                <a:latin typeface="DIN Next LT Pro" panose="020B0503020203050203" pitchFamily="34" charset="0"/>
              </a:rPr>
              <a:t>Área total de acero de refuerzo transversal requerido, especificado en C.21.3.5.7 y C.21.6.4.4.</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Ash Colocado</a:t>
            </a:r>
            <a:r>
              <a:rPr lang="es-CO" sz="1600" dirty="0">
                <a:latin typeface="DIN Next LT Pro" panose="020B0503020203050203" pitchFamily="34" charset="0"/>
              </a:rPr>
              <a:t>: </a:t>
            </a:r>
            <a:r>
              <a:rPr lang="es-CO" sz="1400" dirty="0">
                <a:latin typeface="DIN Next LT Pro" panose="020B0503020203050203" pitchFamily="34" charset="0"/>
              </a:rPr>
              <a:t>Área total de acero de refuerzo transversal colocado en la sección de análisis.</a:t>
            </a:r>
            <a:endParaRPr lang="es-CO" sz="1400" dirty="0">
              <a:latin typeface="Symbol" panose="05050102010706020507" pitchFamily="18" charset="2"/>
            </a:endParaRPr>
          </a:p>
          <a:p>
            <a:pPr algn="just">
              <a:spcAft>
                <a:spcPts val="1200"/>
              </a:spcAft>
            </a:pPr>
            <a:endParaRPr lang="es-CO" sz="1600"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770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B6BB63F-8865-4A35-B09B-735919838634}"/>
              </a:ext>
            </a:extLst>
          </p:cNvPr>
          <p:cNvPicPr>
            <a:picLocks noChangeAspect="1"/>
          </p:cNvPicPr>
          <p:nvPr/>
        </p:nvPicPr>
        <p:blipFill>
          <a:blip r:embed="rId2"/>
          <a:stretch>
            <a:fillRect/>
          </a:stretch>
        </p:blipFill>
        <p:spPr>
          <a:xfrm>
            <a:off x="3978306" y="2392403"/>
            <a:ext cx="7838556" cy="4226111"/>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Diagrama de Interacci</a:t>
            </a:r>
            <a:r>
              <a:rPr lang="es-CO" sz="2000" dirty="0">
                <a:solidFill>
                  <a:srgbClr val="28F524"/>
                </a:solidFill>
                <a:latin typeface="DIN Next LT Pro" panose="020B0503020203050203" pitchFamily="34" charset="0"/>
              </a:rPr>
              <a:t>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403"/>
            <a:ext cx="3415026" cy="156966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Diagrama de Interacción se presentan los resultados obtenidos en el diagrama de interacción, tanto de la capacidad nominal como la resistente (Afectada por un coeficiente </a:t>
            </a:r>
            <a:r>
              <a:rPr lang="es-CO" sz="1600" b="1" dirty="0">
                <a:latin typeface="Symbol" panose="05050102010706020507" pitchFamily="18" charset="2"/>
              </a:rPr>
              <a:t>f</a:t>
            </a:r>
            <a:r>
              <a:rPr lang="es-CO" sz="1600" dirty="0">
                <a:latin typeface="DIN Next LT Pro" panose="020B0503020203050203" pitchFamily="34" charset="0"/>
              </a:rPr>
              <a:t>).</a:t>
            </a:r>
          </a:p>
        </p:txBody>
      </p:sp>
      <p:sp>
        <p:nvSpPr>
          <p:cNvPr id="11" name="Rectángulo 10">
            <a:extLst>
              <a:ext uri="{FF2B5EF4-FFF2-40B4-BE49-F238E27FC236}">
                <a16:creationId xmlns:a16="http://schemas.microsoft.com/office/drawing/2014/main" id="{94A58D4A-D2B7-47FB-857E-3818620DEFE4}"/>
              </a:ext>
            </a:extLst>
          </p:cNvPr>
          <p:cNvSpPr/>
          <p:nvPr/>
        </p:nvSpPr>
        <p:spPr>
          <a:xfrm>
            <a:off x="6890859" y="2464593"/>
            <a:ext cx="583091"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6890859" y="2613024"/>
            <a:ext cx="973739" cy="827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7469594" y="2464593"/>
            <a:ext cx="2179231" cy="5546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8550E4DF-CA60-4EF0-9B3C-BB8B577D912D}"/>
              </a:ext>
            </a:extLst>
          </p:cNvPr>
          <p:cNvPicPr>
            <a:picLocks noChangeAspect="1"/>
          </p:cNvPicPr>
          <p:nvPr/>
        </p:nvPicPr>
        <p:blipFill>
          <a:blip r:embed="rId3"/>
          <a:stretch>
            <a:fillRect/>
          </a:stretch>
        </p:blipFill>
        <p:spPr>
          <a:xfrm>
            <a:off x="7864598" y="3041640"/>
            <a:ext cx="1755413" cy="376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06177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Exportar – Datos a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000" cy="4247317"/>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número 2 encontramos la opción Exportar, por medio de esta podremos exportar un resumen a Excel del análisis realizado en el programa.</a:t>
            </a:r>
          </a:p>
          <a:p>
            <a:pPr algn="just">
              <a:spcAft>
                <a:spcPts val="1200"/>
              </a:spcAft>
            </a:pPr>
            <a:r>
              <a:rPr lang="es-CO" sz="1600" dirty="0">
                <a:latin typeface="DIN Next LT Pro" panose="020B0503020203050203" pitchFamily="34" charset="0"/>
              </a:rPr>
              <a:t> </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C1D39BA7-29F1-402D-A473-F206B83BB111}"/>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7B647F3C-5385-46D0-96CA-8F409504C533}"/>
              </a:ext>
            </a:extLst>
          </p:cNvPr>
          <p:cNvPicPr>
            <a:picLocks noChangeAspect="1"/>
          </p:cNvPicPr>
          <p:nvPr/>
        </p:nvPicPr>
        <p:blipFill>
          <a:blip r:embed="rId3"/>
          <a:stretch>
            <a:fillRect/>
          </a:stretch>
        </p:blipFill>
        <p:spPr>
          <a:xfrm>
            <a:off x="4637964" y="2744152"/>
            <a:ext cx="4725000" cy="216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1" name="Conector recto 10">
            <a:extLst>
              <a:ext uri="{FF2B5EF4-FFF2-40B4-BE49-F238E27FC236}">
                <a16:creationId xmlns:a16="http://schemas.microsoft.com/office/drawing/2014/main" id="{810EE05A-AFC5-464E-9B52-6DA063635C52}"/>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F45FA86A-C1C9-48FD-9EB9-0BA4114B8CFB}"/>
              </a:ext>
            </a:extLst>
          </p:cNvPr>
          <p:cNvCxnSpPr>
            <a:cxnSpLocks/>
          </p:cNvCxnSpPr>
          <p:nvPr/>
        </p:nvCxnSpPr>
        <p:spPr>
          <a:xfrm>
            <a:off x="5521234" y="2310834"/>
            <a:ext cx="3868893" cy="4204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532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Ver - Reporte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000" cy="4247317"/>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número 3 encontramos la opción Ver - Reporte, por medio de esta podremos visualizar un reporte del análisis realizado.</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C1D39BA7-29F1-402D-A473-F206B83BB111}"/>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810EE05A-AFC5-464E-9B52-6DA063635C52}"/>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AD83D167-41C5-4C1C-B367-34700731566B}"/>
              </a:ext>
            </a:extLst>
          </p:cNvPr>
          <p:cNvPicPr>
            <a:picLocks noChangeAspect="1"/>
          </p:cNvPicPr>
          <p:nvPr/>
        </p:nvPicPr>
        <p:blipFill>
          <a:blip r:embed="rId3"/>
          <a:stretch>
            <a:fillRect/>
          </a:stretch>
        </p:blipFill>
        <p:spPr>
          <a:xfrm>
            <a:off x="4638675" y="2731294"/>
            <a:ext cx="4782686" cy="2197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3" name="Conector recto 12">
            <a:extLst>
              <a:ext uri="{FF2B5EF4-FFF2-40B4-BE49-F238E27FC236}">
                <a16:creationId xmlns:a16="http://schemas.microsoft.com/office/drawing/2014/main" id="{F45FA86A-C1C9-48FD-9EB9-0BA4114B8CFB}"/>
              </a:ext>
            </a:extLst>
          </p:cNvPr>
          <p:cNvCxnSpPr>
            <a:cxnSpLocks/>
          </p:cNvCxnSpPr>
          <p:nvPr/>
        </p:nvCxnSpPr>
        <p:spPr>
          <a:xfrm>
            <a:off x="5521234" y="2310834"/>
            <a:ext cx="3900127" cy="4034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507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830997"/>
          </a:xfrm>
          <a:prstGeom prst="rect">
            <a:avLst/>
          </a:prstGeom>
          <a:noFill/>
        </p:spPr>
        <p:txBody>
          <a:bodyPr wrap="square" rtlCol="0">
            <a:spAutoFit/>
          </a:bodyPr>
          <a:lstStyle/>
          <a:p>
            <a:pPr algn="just"/>
            <a:r>
              <a:rPr lang="es-CO" sz="1600" dirty="0">
                <a:latin typeface="DIN Next LT Pro" panose="020B0503020203050203" pitchFamily="34" charset="0"/>
              </a:rPr>
              <a:t>Al hacer clic en la opción Análisis de sección Circular, se abrirá la siguiente ventana emergente.</a:t>
            </a:r>
          </a:p>
        </p:txBody>
      </p: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spTree>
    <p:extLst>
      <p:ext uri="{BB962C8B-B14F-4D97-AF65-F5344CB8AC3E}">
        <p14:creationId xmlns:p14="http://schemas.microsoft.com/office/powerpoint/2010/main" val="2159626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Tipo de Elemento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3046988"/>
          </a:xfrm>
          <a:prstGeom prst="rect">
            <a:avLst/>
          </a:prstGeom>
          <a:noFill/>
        </p:spPr>
        <p:txBody>
          <a:bodyPr wrap="square" rtlCol="0">
            <a:spAutoFit/>
          </a:bodyPr>
          <a:lstStyle/>
          <a:p>
            <a:pPr algn="just"/>
            <a:r>
              <a:rPr lang="es-CO" sz="1600" dirty="0">
                <a:latin typeface="DIN Next LT Pro" panose="020B0503020203050203" pitchFamily="34" charset="0"/>
              </a:rPr>
              <a:t>Inicialmente se debe elegir el tipo de elemento que se requiere analizar, si se trata de una columna se debe tener en cuenta que las solicitaciones son obtenidas a partir de un elemento tipo “Frame” o a partir de resultados en un “Pier”. Si se trata de una pila estas solicitaciones se obtienen a partir de elemento tipo “Frame” o a partir de reacciones en “Puntos”.</a:t>
            </a:r>
          </a:p>
        </p:txBody>
      </p: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pic>
        <p:nvPicPr>
          <p:cNvPr id="4" name="Imagen 3">
            <a:extLst>
              <a:ext uri="{FF2B5EF4-FFF2-40B4-BE49-F238E27FC236}">
                <a16:creationId xmlns:a16="http://schemas.microsoft.com/office/drawing/2014/main" id="{F2EDC909-C13B-4C52-83BD-9DD622AA8076}"/>
              </a:ext>
            </a:extLst>
          </p:cNvPr>
          <p:cNvPicPr>
            <a:picLocks noChangeAspect="1"/>
          </p:cNvPicPr>
          <p:nvPr/>
        </p:nvPicPr>
        <p:blipFill>
          <a:blip r:embed="rId3"/>
          <a:stretch>
            <a:fillRect/>
          </a:stretch>
        </p:blipFill>
        <p:spPr>
          <a:xfrm>
            <a:off x="5835503" y="3248915"/>
            <a:ext cx="3620917" cy="1228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D21B143F-1A5F-45DF-98A4-C219AF61522E}"/>
              </a:ext>
            </a:extLst>
          </p:cNvPr>
          <p:cNvSpPr/>
          <p:nvPr/>
        </p:nvSpPr>
        <p:spPr>
          <a:xfrm>
            <a:off x="3794760" y="2697480"/>
            <a:ext cx="1440180" cy="4800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64E372AF-93CF-412A-8429-9AD473DD5BD0}"/>
              </a:ext>
            </a:extLst>
          </p:cNvPr>
          <p:cNvCxnSpPr>
            <a:cxnSpLocks/>
          </p:cNvCxnSpPr>
          <p:nvPr/>
        </p:nvCxnSpPr>
        <p:spPr>
          <a:xfrm>
            <a:off x="3794760" y="3175165"/>
            <a:ext cx="2015490" cy="13022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7060A75C-4C75-4048-97C3-C592453CEC6C}"/>
              </a:ext>
            </a:extLst>
          </p:cNvPr>
          <p:cNvCxnSpPr>
            <a:cxnSpLocks/>
          </p:cNvCxnSpPr>
          <p:nvPr/>
        </p:nvCxnSpPr>
        <p:spPr>
          <a:xfrm>
            <a:off x="5234940" y="2705100"/>
            <a:ext cx="4221480" cy="5207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61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Importar – Demandas de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pic>
        <p:nvPicPr>
          <p:cNvPr id="4" name="Imagen 3">
            <a:extLst>
              <a:ext uri="{FF2B5EF4-FFF2-40B4-BE49-F238E27FC236}">
                <a16:creationId xmlns:a16="http://schemas.microsoft.com/office/drawing/2014/main" id="{7C1CD6D4-6BB3-4C89-86C7-34F2726AFECF}"/>
              </a:ext>
            </a:extLst>
          </p:cNvPr>
          <p:cNvPicPr>
            <a:picLocks noChangeAspect="1"/>
          </p:cNvPicPr>
          <p:nvPr/>
        </p:nvPicPr>
        <p:blipFill>
          <a:blip r:embed="rId3"/>
          <a:stretch>
            <a:fillRect/>
          </a:stretch>
        </p:blipFill>
        <p:spPr>
          <a:xfrm>
            <a:off x="5316446" y="2950029"/>
            <a:ext cx="3965755" cy="12126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350B57F4-4B62-416F-ABD6-754C51A9D1B8}"/>
              </a:ext>
            </a:extLst>
          </p:cNvPr>
          <p:cNvSpPr/>
          <p:nvPr/>
        </p:nvSpPr>
        <p:spPr>
          <a:xfrm>
            <a:off x="3744687" y="2386148"/>
            <a:ext cx="296091" cy="13062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744687" y="2516777"/>
            <a:ext cx="1552778" cy="16702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a:off x="4040778" y="2386148"/>
            <a:ext cx="5260404" cy="5293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1 encontramos la opción Importar, por medio de esta se debe ingresar el libro de Excel que contiene las solicitaciones que se obtuvieron en el programa ETABS; para ello encontraremos tres opciones que describen el tipo de elemento que fue modelado en el programa de análisis tridimensional.</a:t>
            </a:r>
          </a:p>
          <a:p>
            <a:pPr algn="just"/>
            <a:r>
              <a:rPr lang="es-CO" sz="1600" dirty="0">
                <a:latin typeface="DIN Next LT Pro" panose="020B0503020203050203" pitchFamily="34" charset="0"/>
              </a:rPr>
              <a:t>Nota:</a:t>
            </a:r>
          </a:p>
          <a:p>
            <a:pPr marL="180975" indent="-180975" algn="just">
              <a:buFont typeface="Wingdings" panose="05000000000000000000" pitchFamily="2" charset="2"/>
              <a:buChar char="Ø"/>
            </a:pPr>
            <a:r>
              <a:rPr lang="es-CO" sz="1400" dirty="0">
                <a:latin typeface="DIN Next LT Pro" panose="020B0503020203050203" pitchFamily="34" charset="0"/>
              </a:rPr>
              <a:t>Es importante tener claro el tipo de elemento que será analizado porque de lo contrario se generará un error en el análisis debido al orden en el que se obtienen los datos en cada uno de ellos. </a:t>
            </a:r>
          </a:p>
        </p:txBody>
      </p:sp>
    </p:spTree>
    <p:extLst>
      <p:ext uri="{BB962C8B-B14F-4D97-AF65-F5344CB8AC3E}">
        <p14:creationId xmlns:p14="http://schemas.microsoft.com/office/powerpoint/2010/main" val="2460448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FFF8033-E4C7-4E09-B594-1096ADA1F4DB}"/>
              </a:ext>
            </a:extLst>
          </p:cNvPr>
          <p:cNvPicPr>
            <a:picLocks noChangeAspect="1"/>
          </p:cNvPicPr>
          <p:nvPr/>
        </p:nvPicPr>
        <p:blipFill>
          <a:blip r:embed="rId2"/>
          <a:stretch>
            <a:fillRect/>
          </a:stretch>
        </p:blipFill>
        <p:spPr>
          <a:xfrm>
            <a:off x="3734958" y="2310834"/>
            <a:ext cx="8146824"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350B57F4-4B62-416F-ABD6-754C51A9D1B8}"/>
              </a:ext>
            </a:extLst>
          </p:cNvPr>
          <p:cNvSpPr/>
          <p:nvPr/>
        </p:nvSpPr>
        <p:spPr>
          <a:xfrm>
            <a:off x="3827663" y="4398202"/>
            <a:ext cx="1401562" cy="6929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827663" y="5091113"/>
            <a:ext cx="2356443" cy="12692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a:off x="5229225" y="4398202"/>
            <a:ext cx="4633913" cy="2476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56966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tipo de elemento a analizar corresponde a una pila, el programa pregunta como datos adicionales el diámetro de la campana y las propiedades del suelo.</a:t>
            </a:r>
            <a:endParaRPr lang="es-CO" sz="1400" dirty="0">
              <a:latin typeface="DIN Next LT Pro" panose="020B0503020203050203" pitchFamily="34" charset="0"/>
            </a:endParaRPr>
          </a:p>
        </p:txBody>
      </p:sp>
      <p:pic>
        <p:nvPicPr>
          <p:cNvPr id="9" name="Imagen 8">
            <a:extLst>
              <a:ext uri="{FF2B5EF4-FFF2-40B4-BE49-F238E27FC236}">
                <a16:creationId xmlns:a16="http://schemas.microsoft.com/office/drawing/2014/main" id="{188E7A4B-2201-4900-ADA5-3E7F5BA12F7D}"/>
              </a:ext>
            </a:extLst>
          </p:cNvPr>
          <p:cNvPicPr>
            <a:picLocks noChangeAspect="1"/>
          </p:cNvPicPr>
          <p:nvPr/>
        </p:nvPicPr>
        <p:blipFill>
          <a:blip r:embed="rId3"/>
          <a:stretch>
            <a:fillRect/>
          </a:stretch>
        </p:blipFill>
        <p:spPr>
          <a:xfrm>
            <a:off x="6201287" y="4671518"/>
            <a:ext cx="3635309" cy="16702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Imagen 23">
            <a:extLst>
              <a:ext uri="{FF2B5EF4-FFF2-40B4-BE49-F238E27FC236}">
                <a16:creationId xmlns:a16="http://schemas.microsoft.com/office/drawing/2014/main" id="{8D740006-FC7D-47E6-BF30-CFB790127871}"/>
              </a:ext>
            </a:extLst>
          </p:cNvPr>
          <p:cNvPicPr>
            <a:picLocks noChangeAspect="1"/>
          </p:cNvPicPr>
          <p:nvPr/>
        </p:nvPicPr>
        <p:blipFill>
          <a:blip r:embed="rId4"/>
          <a:stretch>
            <a:fillRect/>
          </a:stretch>
        </p:blipFill>
        <p:spPr>
          <a:xfrm>
            <a:off x="5582738" y="2844023"/>
            <a:ext cx="2873481" cy="3647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5" name="Rectángulo 24">
            <a:extLst>
              <a:ext uri="{FF2B5EF4-FFF2-40B4-BE49-F238E27FC236}">
                <a16:creationId xmlns:a16="http://schemas.microsoft.com/office/drawing/2014/main" id="{5BD962AE-7B99-4F39-9C6D-9B9F5AC66845}"/>
              </a:ext>
            </a:extLst>
          </p:cNvPr>
          <p:cNvSpPr/>
          <p:nvPr/>
        </p:nvSpPr>
        <p:spPr>
          <a:xfrm>
            <a:off x="3883860" y="3577351"/>
            <a:ext cx="1186297" cy="16121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6" name="Conector recto 25">
            <a:extLst>
              <a:ext uri="{FF2B5EF4-FFF2-40B4-BE49-F238E27FC236}">
                <a16:creationId xmlns:a16="http://schemas.microsoft.com/office/drawing/2014/main" id="{0D314EF1-F3B9-4910-AB09-BAA2D1F3BBA1}"/>
              </a:ext>
            </a:extLst>
          </p:cNvPr>
          <p:cNvCxnSpPr>
            <a:cxnSpLocks/>
          </p:cNvCxnSpPr>
          <p:nvPr/>
        </p:nvCxnSpPr>
        <p:spPr>
          <a:xfrm flipV="1">
            <a:off x="5070157" y="3228798"/>
            <a:ext cx="3386062" cy="5086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5D6C743F-F6C9-4E6F-AAB7-5739AEFD31ED}"/>
              </a:ext>
            </a:extLst>
          </p:cNvPr>
          <p:cNvCxnSpPr>
            <a:cxnSpLocks/>
          </p:cNvCxnSpPr>
          <p:nvPr/>
        </p:nvCxnSpPr>
        <p:spPr>
          <a:xfrm flipV="1">
            <a:off x="3878194" y="2823959"/>
            <a:ext cx="1704544" cy="7533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932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a:extLst>
              <a:ext uri="{FF2B5EF4-FFF2-40B4-BE49-F238E27FC236}">
                <a16:creationId xmlns:a16="http://schemas.microsoft.com/office/drawing/2014/main" id="{A50D0C31-8517-4A52-8AF2-1135A013489D}"/>
              </a:ext>
            </a:extLst>
          </p:cNvPr>
          <p:cNvPicPr>
            <a:picLocks noChangeAspect="1"/>
          </p:cNvPicPr>
          <p:nvPr/>
        </p:nvPicPr>
        <p:blipFill>
          <a:blip r:embed="rId2"/>
          <a:stretch>
            <a:fillRect/>
          </a:stretch>
        </p:blipFill>
        <p:spPr>
          <a:xfrm>
            <a:off x="3702343" y="2310834"/>
            <a:ext cx="8126829" cy="4381200"/>
          </a:xfrm>
          <a:prstGeom prst="rect">
            <a:avLst/>
          </a:prstGeom>
        </p:spPr>
      </p:pic>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350B57F4-4B62-416F-ABD6-754C51A9D1B8}"/>
              </a:ext>
            </a:extLst>
          </p:cNvPr>
          <p:cNvSpPr/>
          <p:nvPr/>
        </p:nvSpPr>
        <p:spPr>
          <a:xfrm>
            <a:off x="3748287" y="4298817"/>
            <a:ext cx="1436487" cy="59703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746303" y="4895851"/>
            <a:ext cx="2349697" cy="4753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flipV="1">
            <a:off x="3748287" y="3745349"/>
            <a:ext cx="2347713" cy="5534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815882"/>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tipo de elemento a analizar corresponde a una columna, el programa pregunta como datos adicionales la longitud libre que corresponde a la altura entre piso y la capacidad de disipación de energía (DMO o DES).</a:t>
            </a:r>
            <a:endParaRPr lang="es-CO" sz="1400" dirty="0">
              <a:latin typeface="DIN Next LT Pro" panose="020B0503020203050203" pitchFamily="34" charset="0"/>
            </a:endParaRPr>
          </a:p>
        </p:txBody>
      </p:sp>
      <p:pic>
        <p:nvPicPr>
          <p:cNvPr id="6" name="Imagen 5">
            <a:extLst>
              <a:ext uri="{FF2B5EF4-FFF2-40B4-BE49-F238E27FC236}">
                <a16:creationId xmlns:a16="http://schemas.microsoft.com/office/drawing/2014/main" id="{C6A8722F-E713-4BF1-87AB-B4EC99432E47}"/>
              </a:ext>
            </a:extLst>
          </p:cNvPr>
          <p:cNvPicPr>
            <a:picLocks noChangeAspect="1"/>
          </p:cNvPicPr>
          <p:nvPr/>
        </p:nvPicPr>
        <p:blipFill>
          <a:blip r:embed="rId3"/>
          <a:stretch>
            <a:fillRect/>
          </a:stretch>
        </p:blipFill>
        <p:spPr>
          <a:xfrm>
            <a:off x="6096000" y="3770248"/>
            <a:ext cx="4040777" cy="15760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25159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 Pestaña Gráfica y Sección</a:t>
            </a:r>
            <a:endParaRPr lang="en-US" sz="2000" dirty="0">
              <a:solidFill>
                <a:srgbClr val="28F524"/>
              </a:solidFill>
              <a:latin typeface="DIN Next LT Pro" panose="020B0503020203050203" pitchFamily="34" charset="0"/>
            </a:endParaRPr>
          </a:p>
          <a:p>
            <a:pPr marL="0" indent="0" algn="ctr">
              <a:buNone/>
              <a:tabLst>
                <a:tab pos="0" algn="l"/>
              </a:tabLst>
            </a:pP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44709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Luego de ingresar toda la información requerida para el análisis se puede proceder a dar clic en el botón Calcular para ejecutar el programa.</a:t>
            </a:r>
          </a:p>
          <a:p>
            <a:pPr algn="just">
              <a:spcAft>
                <a:spcPts val="1200"/>
              </a:spcAft>
            </a:pPr>
            <a:r>
              <a:rPr lang="es-CO" sz="1600" dirty="0">
                <a:latin typeface="DIN Next LT Pro" panose="020B0503020203050203" pitchFamily="34" charset="0"/>
              </a:rPr>
              <a:t>Una vez ejecutado, en la pestaña Sección se puede apreciar la sección escalada que se está analizando, una tabla resumen con puntos principales y el diagrama de interacción al igual que las solicitaciones importadas para el análisis.</a:t>
            </a:r>
            <a:endParaRPr lang="es-CO" sz="1400" dirty="0">
              <a:latin typeface="DIN Next LT Pro" panose="020B0503020203050203" pitchFamily="34" charset="0"/>
            </a:endParaRPr>
          </a:p>
        </p:txBody>
      </p:sp>
      <p:pic>
        <p:nvPicPr>
          <p:cNvPr id="7" name="Imagen 6">
            <a:extLst>
              <a:ext uri="{FF2B5EF4-FFF2-40B4-BE49-F238E27FC236}">
                <a16:creationId xmlns:a16="http://schemas.microsoft.com/office/drawing/2014/main" id="{001C099D-A36E-43D6-9C32-1E661A2ED660}"/>
              </a:ext>
            </a:extLst>
          </p:cNvPr>
          <p:cNvPicPr>
            <a:picLocks noChangeAspect="1"/>
          </p:cNvPicPr>
          <p:nvPr/>
        </p:nvPicPr>
        <p:blipFill>
          <a:blip r:embed="rId2"/>
          <a:stretch>
            <a:fillRect/>
          </a:stretch>
        </p:blipFill>
        <p:spPr>
          <a:xfrm>
            <a:off x="3698562" y="2310834"/>
            <a:ext cx="8115370" cy="4381200"/>
          </a:xfrm>
          <a:prstGeom prst="rect">
            <a:avLst/>
          </a:prstGeom>
        </p:spPr>
      </p:pic>
    </p:spTree>
    <p:extLst>
      <p:ext uri="{BB962C8B-B14F-4D97-AF65-F5344CB8AC3E}">
        <p14:creationId xmlns:p14="http://schemas.microsoft.com/office/powerpoint/2010/main" val="2987576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Cargas de Servicio – Cargas Últimas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93954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2 encontraremos una tabla con los datos importados, si el análisis corresponde a un elemento tipo pila esta pestaña corresponderá a las cargas de servicio y si se trata de un elemento tipo columna se presentarán las cargas correspondientes para el análisis de cortante en la sección.</a:t>
            </a:r>
          </a:p>
          <a:p>
            <a:pPr algn="just">
              <a:spcAft>
                <a:spcPts val="1200"/>
              </a:spcAft>
            </a:pPr>
            <a:r>
              <a:rPr lang="es-CO" sz="1600" dirty="0">
                <a:latin typeface="DIN Next LT Pro" panose="020B0503020203050203" pitchFamily="34" charset="0"/>
              </a:rPr>
              <a:t>En la pestaña número 3 encontraremos la tabla que contiene las solicitaciones importadas por combinaciones últimas.</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686F1A70-441F-4379-93BC-4A647F4B6B95}"/>
              </a:ext>
            </a:extLst>
          </p:cNvPr>
          <p:cNvPicPr>
            <a:picLocks noChangeAspect="1"/>
          </p:cNvPicPr>
          <p:nvPr/>
        </p:nvPicPr>
        <p:blipFill>
          <a:blip r:embed="rId2"/>
          <a:stretch>
            <a:fillRect/>
          </a:stretch>
        </p:blipFill>
        <p:spPr>
          <a:xfrm>
            <a:off x="3694954" y="2310834"/>
            <a:ext cx="8118978" cy="4381200"/>
          </a:xfrm>
          <a:prstGeom prst="rect">
            <a:avLst/>
          </a:prstGeom>
        </p:spPr>
      </p:pic>
    </p:spTree>
    <p:extLst>
      <p:ext uri="{BB962C8B-B14F-4D97-AF65-F5344CB8AC3E}">
        <p14:creationId xmlns:p14="http://schemas.microsoft.com/office/powerpoint/2010/main" val="1450644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Asignación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2062103"/>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4 encontraremos una tabla que contiene la asignación de un grupo a cada uno de los elementos modelados en el programa ETABS, está tabla es necesaria si los datos a importar son de tipo “Frame” o “Punto”. </a:t>
            </a:r>
            <a:endParaRPr lang="es-CO" sz="1400" dirty="0">
              <a:latin typeface="DIN Next LT Pro" panose="020B0503020203050203" pitchFamily="34" charset="0"/>
            </a:endParaRPr>
          </a:p>
        </p:txBody>
      </p:sp>
      <p:pic>
        <p:nvPicPr>
          <p:cNvPr id="4" name="Imagen 3">
            <a:extLst>
              <a:ext uri="{FF2B5EF4-FFF2-40B4-BE49-F238E27FC236}">
                <a16:creationId xmlns:a16="http://schemas.microsoft.com/office/drawing/2014/main" id="{30647923-D0AF-4725-A746-38A09592D431}"/>
              </a:ext>
            </a:extLst>
          </p:cNvPr>
          <p:cNvPicPr>
            <a:picLocks noChangeAspect="1"/>
          </p:cNvPicPr>
          <p:nvPr/>
        </p:nvPicPr>
        <p:blipFill>
          <a:blip r:embed="rId2"/>
          <a:stretch>
            <a:fillRect/>
          </a:stretch>
        </p:blipFill>
        <p:spPr>
          <a:xfrm>
            <a:off x="3686489" y="2310834"/>
            <a:ext cx="8127443" cy="4381200"/>
          </a:xfrm>
          <a:prstGeom prst="rect">
            <a:avLst/>
          </a:prstGeom>
        </p:spPr>
      </p:pic>
    </p:spTree>
    <p:extLst>
      <p:ext uri="{BB962C8B-B14F-4D97-AF65-F5344CB8AC3E}">
        <p14:creationId xmlns:p14="http://schemas.microsoft.com/office/powerpoint/2010/main" val="3849154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5 – Revisión Normativa encontraremos una tabla que contiene los resultados del análisis realizado en el programa, en esta se presentan los siguientes resultados: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Ps Estática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de servicio en condiciones estáticas (sin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Ps Dinámica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de servicio en condiciones dinámicas (con efectos sísmicos).</a:t>
            </a: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20" name="Grupo 19">
            <a:extLst>
              <a:ext uri="{FF2B5EF4-FFF2-40B4-BE49-F238E27FC236}">
                <a16:creationId xmlns:a16="http://schemas.microsoft.com/office/drawing/2014/main" id="{33279A0D-E4BE-485B-8BE9-AF8F0FB4A032}"/>
              </a:ext>
            </a:extLst>
          </p:cNvPr>
          <p:cNvGrpSpPr/>
          <p:nvPr/>
        </p:nvGrpSpPr>
        <p:grpSpPr>
          <a:xfrm>
            <a:off x="3686175" y="2476500"/>
            <a:ext cx="8253413" cy="1453159"/>
            <a:chOff x="3686175" y="2476500"/>
            <a:chExt cx="8253413" cy="1453159"/>
          </a:xfrm>
        </p:grpSpPr>
        <p:pic>
          <p:nvPicPr>
            <p:cNvPr id="7" name="Imagen 6">
              <a:extLst>
                <a:ext uri="{FF2B5EF4-FFF2-40B4-BE49-F238E27FC236}">
                  <a16:creationId xmlns:a16="http://schemas.microsoft.com/office/drawing/2014/main" id="{812B3910-F4D4-4BB4-B33B-92389A33CD6F}"/>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ángulo 7">
              <a:extLst>
                <a:ext uri="{FF2B5EF4-FFF2-40B4-BE49-F238E27FC236}">
                  <a16:creationId xmlns:a16="http://schemas.microsoft.com/office/drawing/2014/main" id="{199B2086-1B34-44D6-8EF4-DD8A6DEF6D66}"/>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0" name="Conector recto 9">
              <a:extLst>
                <a:ext uri="{FF2B5EF4-FFF2-40B4-BE49-F238E27FC236}">
                  <a16:creationId xmlns:a16="http://schemas.microsoft.com/office/drawing/2014/main" id="{C512AA40-5BDD-4FF6-8AE2-E168F14C4236}"/>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2206F42-E099-4136-AB04-249B52014600}"/>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709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939540"/>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Pu Estática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últimas en condiciones estáticas (sin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Pu Dinámica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últimas en condiciones dinámicas (con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1</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de servicio en condiciones estáticas (sin efectos sísmicos), ecuación C.15-2 de la NSR-10.</a:t>
            </a: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B42F90BA-F999-46F1-B19D-F000726889DC}"/>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35A88960-9F43-44CF-9132-ED4EABC430F5}"/>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E646CBFD-0F59-467C-93B1-C1E662DEB6A4}"/>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9EA77D18-4932-4015-BA6F-AFD6FFF6281E}"/>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1D71E37-9360-4D26-B9AC-470B918204E4}"/>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0000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524315"/>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2</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de servicio en condiciones dinámicas (con efectos sísmicos), ecuación C.15-4 de la NSR-10.</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3</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últimas en condiciones estáticas (sin efectos sísmicos), ecuación C.15-3 de la NSR-10.</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4</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últimas en condiciones dinámicas (con efectos sísmicos), ecuación C.15-5 de la NSR-10.</a:t>
            </a:r>
            <a:endParaRPr lang="es-CO" sz="1400" b="1" dirty="0">
              <a:latin typeface="DIN Next LT Pro" panose="020B0503020203050203" pitchFamily="34" charset="0"/>
            </a:endParaRP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7EFD545E-3A08-4611-96B8-3F1AD0753F7C}"/>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DDF2572F-E786-452C-A7E8-EE314976B80E}"/>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05CE723F-AF2B-4503-BE8A-EBEF2C57DE18}"/>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66FAE579-CBFB-4B77-BB15-78B434BFE49D}"/>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A98C88BD-D4BD-490F-A037-04089C514B6A}"/>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5134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600" b="1" dirty="0">
                <a:latin typeface="DIN Next LT Pro" panose="020B0503020203050203" pitchFamily="34" charset="0"/>
              </a:rPr>
              <a:t> </a:t>
            </a:r>
            <a:r>
              <a:rPr lang="es-CO" sz="1400" b="1" dirty="0">
                <a:latin typeface="DIN Next LT Pro" panose="020B0503020203050203" pitchFamily="34" charset="0"/>
              </a:rPr>
              <a:t>Transmitido Estático</a:t>
            </a:r>
            <a:r>
              <a:rPr lang="es-CO" sz="1600" b="1" dirty="0">
                <a:latin typeface="DIN Next LT Pro" panose="020B0503020203050203" pitchFamily="34" charset="0"/>
              </a:rPr>
              <a:t>: </a:t>
            </a:r>
            <a:r>
              <a:rPr lang="es-CO" sz="1400" dirty="0">
                <a:latin typeface="DIN Next LT Pro" panose="020B0503020203050203" pitchFamily="34" charset="0"/>
              </a:rPr>
              <a:t>Esfuerzo transmitido al suelo debido a combinaciones estáticas en condiciones estáticas.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600" b="1" dirty="0">
                <a:latin typeface="DIN Next LT Pro" panose="020B0503020203050203" pitchFamily="34" charset="0"/>
              </a:rPr>
              <a:t> </a:t>
            </a:r>
            <a:r>
              <a:rPr lang="es-CO" sz="1400" b="1" dirty="0">
                <a:latin typeface="DIN Next LT Pro" panose="020B0503020203050203" pitchFamily="34" charset="0"/>
              </a:rPr>
              <a:t>Transmitido Dinámico</a:t>
            </a:r>
            <a:r>
              <a:rPr lang="es-CO" sz="1600" b="1" dirty="0">
                <a:latin typeface="DIN Next LT Pro" panose="020B0503020203050203" pitchFamily="34" charset="0"/>
              </a:rPr>
              <a:t>: </a:t>
            </a:r>
            <a:r>
              <a:rPr lang="es-CO" sz="1400" dirty="0">
                <a:latin typeface="DIN Next LT Pro" panose="020B0503020203050203" pitchFamily="34" charset="0"/>
              </a:rPr>
              <a:t>Esfuerzo transmitido al suelo debido a combinaciones estáticas en condiciones dinámicas.</a:t>
            </a:r>
            <a:endParaRPr lang="es-CO" sz="16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400" b="1" dirty="0">
                <a:latin typeface="DIN Next LT Pro" panose="020B0503020203050203" pitchFamily="34" charset="0"/>
              </a:rPr>
              <a:t>Adm</a:t>
            </a:r>
            <a:r>
              <a:rPr lang="es-CO" sz="1600" b="1" dirty="0">
                <a:latin typeface="DIN Next LT Pro" panose="020B0503020203050203" pitchFamily="34" charset="0"/>
              </a:rPr>
              <a:t>/</a:t>
            </a:r>
            <a:r>
              <a:rPr lang="es-CO" sz="1600" b="1" dirty="0">
                <a:latin typeface="Symbol" panose="05050102010706020507" pitchFamily="18" charset="2"/>
              </a:rPr>
              <a:t>s</a:t>
            </a:r>
            <a:r>
              <a:rPr lang="es-CO" sz="1400" b="1" dirty="0">
                <a:latin typeface="DIN Next LT Pro" panose="020B0503020203050203" pitchFamily="34" charset="0"/>
              </a:rPr>
              <a:t>Trans Estático</a:t>
            </a:r>
            <a:r>
              <a:rPr lang="es-CO" sz="1600" b="1" dirty="0">
                <a:latin typeface="DIN Next LT Pro" panose="020B0503020203050203" pitchFamily="34" charset="0"/>
              </a:rPr>
              <a:t>: </a:t>
            </a:r>
            <a:r>
              <a:rPr lang="es-CO" sz="1400" dirty="0">
                <a:latin typeface="DIN Next LT Pro" panose="020B0503020203050203" pitchFamily="34" charset="0"/>
              </a:rPr>
              <a:t>Relación entre en el esfuerzo admisible del suelo y el esfuerzo transmitido en condiciones estáticas.</a:t>
            </a:r>
            <a:endParaRPr lang="es-CO" sz="1400" b="1" dirty="0">
              <a:latin typeface="Symbol" panose="05050102010706020507" pitchFamily="18" charset="2"/>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 </a:t>
            </a:r>
            <a:r>
              <a:rPr lang="es-CO" sz="1600" b="1" dirty="0">
                <a:latin typeface="Symbol" panose="05050102010706020507" pitchFamily="18" charset="2"/>
              </a:rPr>
              <a:t>s</a:t>
            </a:r>
            <a:r>
              <a:rPr lang="es-CO" sz="1400" b="1" dirty="0">
                <a:latin typeface="DIN Next LT Pro" panose="020B0503020203050203" pitchFamily="34" charset="0"/>
              </a:rPr>
              <a:t>Adm</a:t>
            </a:r>
            <a:r>
              <a:rPr lang="es-CO" sz="1600" b="1" dirty="0">
                <a:latin typeface="DIN Next LT Pro" panose="020B0503020203050203" pitchFamily="34" charset="0"/>
              </a:rPr>
              <a:t>/</a:t>
            </a:r>
            <a:r>
              <a:rPr lang="es-CO" sz="1400" b="1" dirty="0">
                <a:latin typeface="Symbol" panose="05050102010706020507" pitchFamily="18" charset="2"/>
              </a:rPr>
              <a:t>s</a:t>
            </a:r>
            <a:r>
              <a:rPr lang="es-CO" sz="1400" b="1" dirty="0">
                <a:latin typeface="DIN Next LT Pro" panose="020B0503020203050203" pitchFamily="34" charset="0"/>
              </a:rPr>
              <a:t>Trans Dinámico</a:t>
            </a:r>
            <a:r>
              <a:rPr lang="es-CO" sz="1600" b="1" dirty="0">
                <a:latin typeface="DIN Next LT Pro" panose="020B0503020203050203" pitchFamily="34" charset="0"/>
              </a:rPr>
              <a:t>: </a:t>
            </a:r>
            <a:r>
              <a:rPr lang="es-CO" sz="1400" dirty="0">
                <a:latin typeface="DIN Next LT Pro" panose="020B0503020203050203" pitchFamily="34" charset="0"/>
              </a:rPr>
              <a:t>Relación entre en el esfuerzo admisible del suelo y el esfuerzo transmitido en condiciones estáticas.</a:t>
            </a:r>
            <a:endParaRPr lang="es-CO" sz="1400" b="1" dirty="0">
              <a:latin typeface="Symbol" panose="05050102010706020507" pitchFamily="18" charset="2"/>
            </a:endParaRPr>
          </a:p>
          <a:p>
            <a:pPr marL="269875" indent="-269875" algn="just">
              <a:spcAft>
                <a:spcPts val="1200"/>
              </a:spcAft>
              <a:buFont typeface="Wingdings" panose="05000000000000000000" pitchFamily="2" charset="2"/>
              <a:buChar char="Ø"/>
            </a:pPr>
            <a:endParaRPr lang="es-CO" sz="1400" b="1" dirty="0">
              <a:latin typeface="Symbol" panose="05050102010706020507" pitchFamily="18" charset="2"/>
            </a:endParaRP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99856DA6-D30F-42A8-BC38-95EAF06CE1A4}"/>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20CE866C-3434-4B65-B3C8-B9902800DF72}"/>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36ADE308-B24F-4735-9855-EA642006056D}"/>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66554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973A53-7336-42AE-9C73-C0AAE4AA47D7}"/>
              </a:ext>
            </a:extLst>
          </p:cNvPr>
          <p:cNvPicPr>
            <a:picLocks noChangeAspect="1"/>
          </p:cNvPicPr>
          <p:nvPr/>
        </p:nvPicPr>
        <p:blipFill>
          <a:blip r:embed="rId2"/>
          <a:stretch>
            <a:fillRect/>
          </a:stretch>
        </p:blipFill>
        <p:spPr>
          <a:xfrm>
            <a:off x="3710613" y="2310834"/>
            <a:ext cx="8103319"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31983"/>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V2: </a:t>
            </a:r>
            <a:r>
              <a:rPr lang="es-CO" sz="1400" dirty="0">
                <a:latin typeface="DIN Next LT Pro" panose="020B0503020203050203" pitchFamily="34" charset="0"/>
              </a:rPr>
              <a:t>Verificación del cortante en la sección en la dirección Y. </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V3: </a:t>
            </a:r>
            <a:r>
              <a:rPr lang="es-CO" sz="1400" dirty="0">
                <a:latin typeface="DIN Next LT Pro" panose="020B0503020203050203" pitchFamily="34" charset="0"/>
              </a:rPr>
              <a:t>Verificación del cortante en la sección en la dirección X.</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Vc/Vu: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p:txBody>
      </p:sp>
      <p:sp>
        <p:nvSpPr>
          <p:cNvPr id="10" name="Rectángulo 9">
            <a:extLst>
              <a:ext uri="{FF2B5EF4-FFF2-40B4-BE49-F238E27FC236}">
                <a16:creationId xmlns:a16="http://schemas.microsoft.com/office/drawing/2014/main" id="{36ADE308-B24F-4735-9855-EA642006056D}"/>
              </a:ext>
            </a:extLst>
          </p:cNvPr>
          <p:cNvSpPr/>
          <p:nvPr/>
        </p:nvSpPr>
        <p:spPr>
          <a:xfrm>
            <a:off x="8404860" y="2476500"/>
            <a:ext cx="344043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4043363" y="2476501"/>
            <a:ext cx="4361497" cy="10501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a:cxnSpLocks/>
          </p:cNvCxnSpPr>
          <p:nvPr/>
        </p:nvCxnSpPr>
        <p:spPr>
          <a:xfrm flipH="1">
            <a:off x="11365706" y="2896553"/>
            <a:ext cx="479585" cy="155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506726D-9831-4977-A120-DDEC4DFFACBB}"/>
              </a:ext>
            </a:extLst>
          </p:cNvPr>
          <p:cNvPicPr>
            <a:picLocks noChangeAspect="1"/>
          </p:cNvPicPr>
          <p:nvPr/>
        </p:nvPicPr>
        <p:blipFill>
          <a:blip r:embed="rId3"/>
          <a:stretch>
            <a:fillRect/>
          </a:stretch>
        </p:blipFill>
        <p:spPr>
          <a:xfrm>
            <a:off x="4077652" y="3545207"/>
            <a:ext cx="7257661" cy="8870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8548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973A53-7336-42AE-9C73-C0AAE4AA47D7}"/>
              </a:ext>
            </a:extLst>
          </p:cNvPr>
          <p:cNvPicPr>
            <a:picLocks noChangeAspect="1"/>
          </p:cNvPicPr>
          <p:nvPr/>
        </p:nvPicPr>
        <p:blipFill>
          <a:blip r:embed="rId2"/>
          <a:stretch>
            <a:fillRect/>
          </a:stretch>
        </p:blipFill>
        <p:spPr>
          <a:xfrm>
            <a:off x="3710613" y="2310834"/>
            <a:ext cx="8103319"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2677656"/>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p:txBody>
      </p:sp>
      <p:sp>
        <p:nvSpPr>
          <p:cNvPr id="10" name="Rectángulo 9">
            <a:extLst>
              <a:ext uri="{FF2B5EF4-FFF2-40B4-BE49-F238E27FC236}">
                <a16:creationId xmlns:a16="http://schemas.microsoft.com/office/drawing/2014/main" id="{36ADE308-B24F-4735-9855-EA642006056D}"/>
              </a:ext>
            </a:extLst>
          </p:cNvPr>
          <p:cNvSpPr/>
          <p:nvPr/>
        </p:nvSpPr>
        <p:spPr>
          <a:xfrm>
            <a:off x="8404860" y="2476500"/>
            <a:ext cx="344043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4043363" y="2476501"/>
            <a:ext cx="4361497" cy="10501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a:cxnSpLocks/>
          </p:cNvCxnSpPr>
          <p:nvPr/>
        </p:nvCxnSpPr>
        <p:spPr>
          <a:xfrm flipH="1">
            <a:off x="11365706" y="2896553"/>
            <a:ext cx="479585" cy="155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506726D-9831-4977-A120-DDEC4DFFACBB}"/>
              </a:ext>
            </a:extLst>
          </p:cNvPr>
          <p:cNvPicPr>
            <a:picLocks noChangeAspect="1"/>
          </p:cNvPicPr>
          <p:nvPr/>
        </p:nvPicPr>
        <p:blipFill>
          <a:blip r:embed="rId3"/>
          <a:stretch>
            <a:fillRect/>
          </a:stretch>
        </p:blipFill>
        <p:spPr>
          <a:xfrm>
            <a:off x="4077652" y="3545207"/>
            <a:ext cx="7257661" cy="8870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5269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a:t>
            </a:r>
            <a:r>
              <a:rPr lang="es-CO" sz="2000" dirty="0">
                <a:solidFill>
                  <a:srgbClr val="28F524"/>
                </a:solidFill>
                <a:latin typeface="DIN Next LT Pro" panose="020B0503020203050203" pitchFamily="34" charset="0"/>
              </a:rPr>
              <a:t>Circular –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001095"/>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análisis se realiza a un elemento tipo Columna, en la tabla se presentan los siguientes resultados: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a:t>
            </a:r>
            <a:r>
              <a:rPr lang="es-CO" sz="1600" dirty="0">
                <a:latin typeface="DIN Next LT Pro" panose="020B0503020203050203" pitchFamily="34" charset="0"/>
              </a:rPr>
              <a:t>: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Vs</a:t>
            </a:r>
            <a:r>
              <a:rPr lang="es-CO" sz="1600" dirty="0">
                <a:latin typeface="DIN Next LT Pro" panose="020B0503020203050203" pitchFamily="34" charset="0"/>
              </a:rPr>
              <a:t>: </a:t>
            </a:r>
            <a:r>
              <a:rPr lang="es-CO" sz="1400" dirty="0">
                <a:latin typeface="DIN Next LT Pro" panose="020B0503020203050203" pitchFamily="34" charset="0"/>
              </a:rPr>
              <a:t>Capacidad de cortante del acero de refuerzo.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a:t>
            </a:r>
            <a:r>
              <a:rPr lang="es-CO" sz="1600" dirty="0">
                <a:latin typeface="DIN Next LT Pro" panose="020B0503020203050203" pitchFamily="34" charset="0"/>
              </a:rPr>
              <a:t>: </a:t>
            </a:r>
            <a:r>
              <a:rPr lang="es-CO" sz="1400" dirty="0">
                <a:latin typeface="DIN Next LT Pro" panose="020B0503020203050203" pitchFamily="34" charset="0"/>
              </a:rPr>
              <a:t>Capacidad de cortante resistente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600" b="1"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1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a:t>
            </a:r>
            <a:r>
              <a:rPr lang="es-CO" sz="2000" dirty="0">
                <a:solidFill>
                  <a:srgbClr val="28F524"/>
                </a:solidFill>
                <a:latin typeface="DIN Next LT Pro" panose="020B0503020203050203" pitchFamily="34" charset="0"/>
              </a:rPr>
              <a:t>–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62760"/>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V2: </a:t>
            </a:r>
            <a:r>
              <a:rPr lang="es-CO" sz="1400" dirty="0">
                <a:latin typeface="DIN Next LT Pro" panose="020B0503020203050203" pitchFamily="34" charset="0"/>
              </a:rPr>
              <a:t>Verificación del cortante en la sección en la dirección Y. </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V3: </a:t>
            </a:r>
            <a:r>
              <a:rPr lang="es-CO" sz="1400" dirty="0">
                <a:latin typeface="DIN Next LT Pro" panose="020B0503020203050203" pitchFamily="34" charset="0"/>
              </a:rPr>
              <a:t>Verificación del cortante en la sección en la dirección X.</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Vn/Vu: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S0</a:t>
            </a:r>
            <a:r>
              <a:rPr lang="es-CO" sz="1600" dirty="0">
                <a:latin typeface="DIN Next LT Pro" panose="020B0503020203050203" pitchFamily="34" charset="0"/>
              </a:rPr>
              <a:t>: </a:t>
            </a:r>
            <a:r>
              <a:rPr lang="es-CO" sz="1400" dirty="0">
                <a:latin typeface="DIN Next LT Pro" panose="020B0503020203050203" pitchFamily="34" charset="0"/>
              </a:rPr>
              <a:t>Separación de confinamiento máxima especificados por requisitos normativos en el numeral C.21.3.5.6 y C.21.6.4.3.</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I0</a:t>
            </a:r>
            <a:r>
              <a:rPr lang="es-CO" sz="1400" dirty="0">
                <a:latin typeface="DIN Next LT Pro" panose="020B0503020203050203" pitchFamily="34" charset="0"/>
              </a:rPr>
              <a:t>: Longitud de confinamiento mínimo especificados por requisitos normativos en el numeral C.21.3.5.6 y C.21.6.4.1.</a:t>
            </a:r>
            <a:endParaRPr lang="es-CO" sz="1400" b="1"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062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a:t>
            </a:r>
            <a:r>
              <a:rPr lang="es-CO" sz="2000" dirty="0">
                <a:solidFill>
                  <a:srgbClr val="28F524"/>
                </a:solidFill>
                <a:latin typeface="DIN Next LT Pro" panose="020B0503020203050203" pitchFamily="34" charset="0"/>
              </a:rPr>
              <a:t>–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877985"/>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a:p>
            <a:pPr marL="269875" indent="-269875" algn="just">
              <a:spcAft>
                <a:spcPts val="1200"/>
              </a:spcAft>
              <a:buFont typeface="Wingdings" panose="05000000000000000000" pitchFamily="2" charset="2"/>
              <a:buChar char="Ø"/>
            </a:pPr>
            <a:endParaRPr lang="es-CO" sz="1400"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590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Diagrama de Interacción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815882"/>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Diagrama de Interacción se presentan los resultados obtenidos en el diagrama de interacción, tanto de la capacidad nominal como la resistente (Afectada por un coeficiente </a:t>
            </a:r>
            <a:r>
              <a:rPr lang="es-CO" sz="1600" b="1" dirty="0">
                <a:latin typeface="Symbol" panose="05050102010706020507" pitchFamily="18" charset="2"/>
              </a:rPr>
              <a:t>f</a:t>
            </a:r>
            <a:r>
              <a:rPr lang="es-CO" sz="1600" dirty="0">
                <a:latin typeface="DIN Next LT Pro" panose="020B0503020203050203" pitchFamily="34" charset="0"/>
              </a:rPr>
              <a:t>).</a:t>
            </a:r>
          </a:p>
        </p:txBody>
      </p:sp>
      <p:pic>
        <p:nvPicPr>
          <p:cNvPr id="6" name="Imagen 5">
            <a:extLst>
              <a:ext uri="{FF2B5EF4-FFF2-40B4-BE49-F238E27FC236}">
                <a16:creationId xmlns:a16="http://schemas.microsoft.com/office/drawing/2014/main" id="{E97A3038-4C74-4E59-9997-A20579401858}"/>
              </a:ext>
            </a:extLst>
          </p:cNvPr>
          <p:cNvPicPr>
            <a:picLocks noChangeAspect="1"/>
          </p:cNvPicPr>
          <p:nvPr/>
        </p:nvPicPr>
        <p:blipFill>
          <a:blip r:embed="rId2"/>
          <a:stretch>
            <a:fillRect/>
          </a:stretch>
        </p:blipFill>
        <p:spPr>
          <a:xfrm>
            <a:off x="3687718" y="2310834"/>
            <a:ext cx="8126214" cy="4381200"/>
          </a:xfrm>
          <a:prstGeom prst="rect">
            <a:avLst/>
          </a:prstGeom>
        </p:spPr>
      </p:pic>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296B651D-9BCA-4AE8-B939-8DC6516F92F3}"/>
              </a:ext>
            </a:extLst>
          </p:cNvPr>
          <p:cNvPicPr>
            <a:picLocks noChangeAspect="1"/>
          </p:cNvPicPr>
          <p:nvPr/>
        </p:nvPicPr>
        <p:blipFill>
          <a:blip r:embed="rId3"/>
          <a:stretch>
            <a:fillRect/>
          </a:stretch>
        </p:blipFill>
        <p:spPr>
          <a:xfrm>
            <a:off x="7864598" y="3041640"/>
            <a:ext cx="1755413" cy="376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58147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Exportar – Datos a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2 encontramos la opción Exportar, por medio de esta podremos exportar un resumen a Excel del análisis realizado en el programa.</a:t>
            </a:r>
          </a:p>
        </p:txBody>
      </p:sp>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EB4653DB-98E2-4411-B479-A224E6C10C53}"/>
              </a:ext>
            </a:extLst>
          </p:cNvPr>
          <p:cNvPicPr>
            <a:picLocks noChangeAspect="1"/>
          </p:cNvPicPr>
          <p:nvPr/>
        </p:nvPicPr>
        <p:blipFill>
          <a:blip r:embed="rId2"/>
          <a:stretch>
            <a:fillRect/>
          </a:stretch>
        </p:blipFill>
        <p:spPr>
          <a:xfrm>
            <a:off x="3667108" y="2310834"/>
            <a:ext cx="8146824" cy="4381200"/>
          </a:xfrm>
          <a:prstGeom prst="rect">
            <a:avLst/>
          </a:prstGeom>
        </p:spPr>
      </p:pic>
      <p:pic>
        <p:nvPicPr>
          <p:cNvPr id="4" name="Imagen 3">
            <a:extLst>
              <a:ext uri="{FF2B5EF4-FFF2-40B4-BE49-F238E27FC236}">
                <a16:creationId xmlns:a16="http://schemas.microsoft.com/office/drawing/2014/main" id="{9EFAAE96-2EBE-4870-A8C2-10052B77AB71}"/>
              </a:ext>
            </a:extLst>
          </p:cNvPr>
          <p:cNvPicPr>
            <a:picLocks noChangeAspect="1"/>
          </p:cNvPicPr>
          <p:nvPr/>
        </p:nvPicPr>
        <p:blipFill>
          <a:blip r:embed="rId3"/>
          <a:stretch>
            <a:fillRect/>
          </a:stretch>
        </p:blipFill>
        <p:spPr>
          <a:xfrm>
            <a:off x="5391913" y="2780381"/>
            <a:ext cx="2505075" cy="723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069E72E0-0FC2-4679-A698-32DC7E6FF93A}"/>
              </a:ext>
            </a:extLst>
          </p:cNvPr>
          <p:cNvSpPr/>
          <p:nvPr/>
        </p:nvSpPr>
        <p:spPr>
          <a:xfrm>
            <a:off x="3667108" y="2385012"/>
            <a:ext cx="1170046" cy="30103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4186253F-F1F1-4D56-BFA7-B364056FEB1B}"/>
              </a:ext>
            </a:extLst>
          </p:cNvPr>
          <p:cNvCxnSpPr>
            <a:cxnSpLocks/>
          </p:cNvCxnSpPr>
          <p:nvPr/>
        </p:nvCxnSpPr>
        <p:spPr>
          <a:xfrm flipH="1" flipV="1">
            <a:off x="3667109" y="2681830"/>
            <a:ext cx="1700229" cy="833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3447E32-D150-450E-87B2-49DD6BA611B9}"/>
              </a:ext>
            </a:extLst>
          </p:cNvPr>
          <p:cNvCxnSpPr>
            <a:cxnSpLocks/>
          </p:cNvCxnSpPr>
          <p:nvPr/>
        </p:nvCxnSpPr>
        <p:spPr>
          <a:xfrm flipH="1" flipV="1">
            <a:off x="4842965" y="2392545"/>
            <a:ext cx="3088291" cy="3676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242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Ver - Reporte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3 encontramos la opción Ver - Reporte, por medio de esta podremos visualizar un reporte del análisis realizado.</a:t>
            </a:r>
            <a:endParaRPr lang="es-CO" sz="1400" dirty="0">
              <a:latin typeface="DIN Next LT Pro" panose="020B0503020203050203" pitchFamily="34" charset="0"/>
            </a:endParaRPr>
          </a:p>
        </p:txBody>
      </p:sp>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EB4653DB-98E2-4411-B479-A224E6C10C53}"/>
              </a:ext>
            </a:extLst>
          </p:cNvPr>
          <p:cNvPicPr>
            <a:picLocks noChangeAspect="1"/>
          </p:cNvPicPr>
          <p:nvPr/>
        </p:nvPicPr>
        <p:blipFill>
          <a:blip r:embed="rId2"/>
          <a:stretch>
            <a:fillRect/>
          </a:stretch>
        </p:blipFill>
        <p:spPr>
          <a:xfrm>
            <a:off x="3667108" y="2310834"/>
            <a:ext cx="8146824" cy="4381200"/>
          </a:xfrm>
          <a:prstGeom prst="rect">
            <a:avLst/>
          </a:prstGeom>
        </p:spPr>
      </p:pic>
      <p:sp>
        <p:nvSpPr>
          <p:cNvPr id="5" name="Rectángulo 4">
            <a:extLst>
              <a:ext uri="{FF2B5EF4-FFF2-40B4-BE49-F238E27FC236}">
                <a16:creationId xmlns:a16="http://schemas.microsoft.com/office/drawing/2014/main" id="{069E72E0-0FC2-4679-A698-32DC7E6FF93A}"/>
              </a:ext>
            </a:extLst>
          </p:cNvPr>
          <p:cNvSpPr/>
          <p:nvPr/>
        </p:nvSpPr>
        <p:spPr>
          <a:xfrm>
            <a:off x="3667108" y="2385012"/>
            <a:ext cx="1170046" cy="30103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4186253F-F1F1-4D56-BFA7-B364056FEB1B}"/>
              </a:ext>
            </a:extLst>
          </p:cNvPr>
          <p:cNvCxnSpPr>
            <a:cxnSpLocks/>
          </p:cNvCxnSpPr>
          <p:nvPr/>
        </p:nvCxnSpPr>
        <p:spPr>
          <a:xfrm flipH="1" flipV="1">
            <a:off x="3667109" y="2681830"/>
            <a:ext cx="1700229" cy="833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3447E32-D150-450E-87B2-49DD6BA611B9}"/>
              </a:ext>
            </a:extLst>
          </p:cNvPr>
          <p:cNvCxnSpPr>
            <a:cxnSpLocks/>
          </p:cNvCxnSpPr>
          <p:nvPr/>
        </p:nvCxnSpPr>
        <p:spPr>
          <a:xfrm flipH="1" flipV="1">
            <a:off x="4842965" y="2392545"/>
            <a:ext cx="3088291" cy="3676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602CE30-6AC3-41F7-B158-D954498B7656}"/>
              </a:ext>
            </a:extLst>
          </p:cNvPr>
          <p:cNvPicPr>
            <a:picLocks noChangeAspect="1"/>
          </p:cNvPicPr>
          <p:nvPr/>
        </p:nvPicPr>
        <p:blipFill>
          <a:blip r:embed="rId3"/>
          <a:stretch>
            <a:fillRect/>
          </a:stretch>
        </p:blipFill>
        <p:spPr>
          <a:xfrm>
            <a:off x="5391913" y="2791125"/>
            <a:ext cx="2571750" cy="723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185230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TotalTime>
  <Words>2835</Words>
  <Application>Microsoft Office PowerPoint</Application>
  <PresentationFormat>Panorámica</PresentationFormat>
  <Paragraphs>210</Paragraphs>
  <Slides>46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46</vt:i4>
      </vt:variant>
    </vt:vector>
  </HeadingPairs>
  <TitlesOfParts>
    <vt:vector size="55" baseType="lpstr">
      <vt:lpstr>Arial</vt:lpstr>
      <vt:lpstr>Calibri</vt:lpstr>
      <vt:lpstr>Calibri Light</vt:lpstr>
      <vt:lpstr>DIN Next LT Pro</vt:lpstr>
      <vt:lpstr>DIN Next LT Pro Heavy Condensed</vt:lpstr>
      <vt:lpstr>Symbol</vt:lpstr>
      <vt:lpstr>Tw Cen MT</vt:lpstr>
      <vt:lpstr>Wingdings</vt:lpstr>
      <vt:lpstr>Tema de Office</vt:lpstr>
      <vt:lpstr>Manual de Usuario StruCheck V.1.0</vt:lpstr>
      <vt:lpstr>Índice</vt:lpstr>
      <vt:lpstr>Introducción</vt:lpstr>
      <vt:lpstr>Requisitos básicos </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Resultados</vt:lpstr>
      <vt:lpstr>Resultados</vt:lpstr>
      <vt:lpstr>Resultados</vt:lpstr>
      <vt:lpstr>Resultados</vt:lpstr>
      <vt:lpstr>Resultados</vt:lpstr>
      <vt:lpstr>Resultados</vt:lpstr>
      <vt:lpstr>Funcionamiento</vt:lpstr>
      <vt:lpstr>Funcionamiento</vt:lpstr>
      <vt:lpstr>Funcionamiento</vt:lpstr>
      <vt:lpstr>Funcionamiento</vt:lpstr>
      <vt:lpstr>Funcionamiento</vt:lpstr>
      <vt:lpstr>Funcionamiento</vt:lpstr>
      <vt:lpstr>Funcionamiento</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Funcionamiento</vt:lpstr>
      <vt:lpstr>Funcionamiento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Usuario StruCheck V.1.0</dc:title>
  <dc:creator>Frank Daniel Vidales Herrera</dc:creator>
  <cp:lastModifiedBy>Frank Daniel Vidales Herrera</cp:lastModifiedBy>
  <cp:revision>86</cp:revision>
  <dcterms:created xsi:type="dcterms:W3CDTF">2019-10-02T13:27:03Z</dcterms:created>
  <dcterms:modified xsi:type="dcterms:W3CDTF">2022-02-11T15:09:37Z</dcterms:modified>
</cp:coreProperties>
</file>